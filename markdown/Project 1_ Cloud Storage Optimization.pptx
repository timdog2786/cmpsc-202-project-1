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5" roundtripDataSignature="AMtx7mj0D4H6aGH5DATGwDBGtvYiGIVt1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Target time: 20 seconds. Introduce the task and the comparison. The central question is how to merge all files at minimum total cost without spending too much time finding the next pair.</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Target time: 40 seconds. Define input, operation, and objective. The cost of each merge is added to the running total; the final file size alone is not the objective.</a:t>
            </a:r>
            <a:endParaRPr/>
          </a:p>
        </p:txBody>
      </p:sp>
      <p:sp>
        <p:nvSpPr>
          <p:cNvPr id="97" name="Google Shape;97;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Target time: 55 seconds. Explain compute_cost and the custom heap_push and heap_pop. A min-heap maintains the parent &lt;= children property; it does not sort every element. That is enough to access the smallest efficiently.</a:t>
            </a:r>
            <a:endParaRPr/>
          </a:p>
        </p:txBody>
      </p:sp>
      <p:sp>
        <p:nvSpPr>
          <p:cNvPr id="116" name="Google Shape;116;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Target time: 55 seconds. Show how the two smallest available sizes are chosen each time. The correct sequence produces costs 40, 75, 135, 175, and 310, totaling 735. This corrects the arithmetic in the original reflection draft.</a:t>
            </a:r>
            <a:endParaRPr/>
          </a:p>
        </p:txBody>
      </p:sp>
      <p:sp>
        <p:nvSpPr>
          <p:cNvPr id="145" name="Google Shape;145;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Target time: 1 minute. For the baseline, finding minimums costs linear time per round and there are N−1 rounds, so the total is Theta(N squared). For the heap solution, there are O(log N) push/pop operations per round across N−1 rounds, plus heap construction by repeated pushes in this implementation, so the overall bound remains O(N log N).</a:t>
            </a:r>
            <a:endParaRPr/>
          </a:p>
        </p:txBody>
      </p:sp>
      <p:sp>
        <p:nvSpPr>
          <p:cNvPr id="191" name="Google Shape;191;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Target time: 45 seconds. Explain the role of a fixed random seed and the three tests. Do not say the tests prove all possible inputs are correct; they provide useful checks for one reproducible case. Empty input currently is not handled correctly by these implementations.</a:t>
            </a:r>
            <a:endParaRPr/>
          </a:p>
        </p:txBody>
      </p:sp>
      <p:sp>
        <p:nvSpPr>
          <p:cNvPr id="209" name="Google Shape;209;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Target time: 45 seconds. Be precise about the benchmark setup in the code shared with us. It uses 100, 200, 400, 800, 1600, 3200, and 6400. The report's 50000 and 25x claims need verification against the actual graph and code version.</a:t>
            </a:r>
            <a:endParaRPr/>
          </a:p>
        </p:txBody>
      </p:sp>
      <p:sp>
        <p:nvSpPr>
          <p:cNvPr id="227" name="Google Shape;227;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Target time: 1 minute. Insert the real graphs before presenting. Describe the actual visible trends, not just the theoretical prediction. Do not state an exact speedup unless it can be read from the final measured data. In the code shown, each algorithm gets separate randomly generated lists, so for a fairer comparison use identical seeded inputs for each pair of timings.</a:t>
            </a:r>
            <a:endParaRPr/>
          </a:p>
        </p:txBody>
      </p:sp>
      <p:sp>
        <p:nvSpPr>
          <p:cNvPr id="245" name="Google Shape;245;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Target time: 40 seconds plus Q&amp;A. Conclude that data structure choice changed the runtime while preserving the greedy strategy. Invite questions. For defense, be honest about limitations in testing and benchmark consistency.</a:t>
            </a:r>
            <a:endParaRPr/>
          </a:p>
        </p:txBody>
      </p:sp>
      <p:sp>
        <p:nvSpPr>
          <p:cNvPr id="261" name="Google Shape;261;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2746"/>
        </a:solidFill>
      </p:bgPr>
    </p:bg>
    <p:spTree>
      <p:nvGrpSpPr>
        <p:cNvPr id="84" name="Shape 84"/>
        <p:cNvGrpSpPr/>
        <p:nvPr/>
      </p:nvGrpSpPr>
      <p:grpSpPr>
        <a:xfrm>
          <a:off x="0" y="0"/>
          <a:ext cx="0" cy="0"/>
          <a:chOff x="0" y="0"/>
          <a:chExt cx="0" cy="0"/>
        </a:xfrm>
      </p:grpSpPr>
      <p:sp>
        <p:nvSpPr>
          <p:cNvPr id="85" name="Google Shape;85;p1"/>
          <p:cNvSpPr txBox="1"/>
          <p:nvPr/>
        </p:nvSpPr>
        <p:spPr>
          <a:xfrm>
            <a:off x="777240" y="1051560"/>
            <a:ext cx="7772400" cy="3264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lang="en-US">
                <a:solidFill>
                  <a:srgbClr val="90DAD5"/>
                </a:solidFill>
              </a:rPr>
              <a:t>ALGORITHM ANALYSIS</a:t>
            </a:r>
            <a:endParaRPr/>
          </a:p>
        </p:txBody>
      </p:sp>
      <p:sp>
        <p:nvSpPr>
          <p:cNvPr id="86" name="Google Shape;86;p1"/>
          <p:cNvSpPr txBox="1"/>
          <p:nvPr/>
        </p:nvSpPr>
        <p:spPr>
          <a:xfrm>
            <a:off x="749808" y="1828800"/>
            <a:ext cx="7955279" cy="123444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3600" u="none" cap="none" strike="noStrike">
                <a:solidFill>
                  <a:srgbClr val="FFFFFF"/>
                </a:solidFill>
                <a:latin typeface="Arial"/>
                <a:ea typeface="Arial"/>
                <a:cs typeface="Arial"/>
                <a:sym typeface="Arial"/>
              </a:rPr>
              <a:t>Cloud Storage</a:t>
            </a:r>
            <a:br>
              <a:rPr b="1" i="0" lang="en-US" sz="3600" u="none" cap="none" strike="noStrike">
                <a:solidFill>
                  <a:srgbClr val="FFFFFF"/>
                </a:solidFill>
                <a:latin typeface="Arial"/>
                <a:ea typeface="Arial"/>
                <a:cs typeface="Arial"/>
                <a:sym typeface="Arial"/>
              </a:rPr>
            </a:br>
            <a:r>
              <a:rPr b="1" i="0" lang="en-US" sz="3600" u="none" cap="none" strike="noStrike">
                <a:solidFill>
                  <a:srgbClr val="FFFFFF"/>
                </a:solidFill>
                <a:latin typeface="Arial"/>
                <a:ea typeface="Arial"/>
                <a:cs typeface="Arial"/>
                <a:sym typeface="Arial"/>
              </a:rPr>
              <a:t>Optimization</a:t>
            </a:r>
            <a:endParaRPr/>
          </a:p>
        </p:txBody>
      </p:sp>
      <p:sp>
        <p:nvSpPr>
          <p:cNvPr id="87" name="Google Shape;87;p1"/>
          <p:cNvSpPr txBox="1"/>
          <p:nvPr/>
        </p:nvSpPr>
        <p:spPr>
          <a:xfrm>
            <a:off x="804672" y="3401568"/>
            <a:ext cx="7589520" cy="59436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2200" u="none" cap="none" strike="noStrike">
                <a:solidFill>
                  <a:srgbClr val="DCE4EF"/>
                </a:solidFill>
                <a:latin typeface="Arial"/>
                <a:ea typeface="Arial"/>
                <a:cs typeface="Arial"/>
                <a:sym typeface="Arial"/>
              </a:rPr>
              <a:t>Minimizing the total cost of merging files</a:t>
            </a:r>
            <a:endParaRPr/>
          </a:p>
        </p:txBody>
      </p:sp>
      <p:sp>
        <p:nvSpPr>
          <p:cNvPr id="88" name="Google Shape;88;p1"/>
          <p:cNvSpPr txBox="1"/>
          <p:nvPr/>
        </p:nvSpPr>
        <p:spPr>
          <a:xfrm>
            <a:off x="804672" y="5989320"/>
            <a:ext cx="8046720" cy="32004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400" u="none" cap="none" strike="noStrike">
                <a:solidFill>
                  <a:srgbClr val="B7C6DC"/>
                </a:solidFill>
                <a:latin typeface="Arial"/>
                <a:ea typeface="Arial"/>
                <a:cs typeface="Arial"/>
                <a:sym typeface="Arial"/>
              </a:rPr>
              <a:t>A greedy algorithm: baseline scanning vs. min-heap</a:t>
            </a:r>
            <a:endParaRPr/>
          </a:p>
        </p:txBody>
      </p:sp>
      <p:sp>
        <p:nvSpPr>
          <p:cNvPr id="89" name="Google Shape;89;p1"/>
          <p:cNvSpPr/>
          <p:nvPr/>
        </p:nvSpPr>
        <p:spPr>
          <a:xfrm>
            <a:off x="8549640" y="3566160"/>
            <a:ext cx="457200" cy="914400"/>
          </a:xfrm>
          <a:prstGeom prst="roundRect">
            <a:avLst>
              <a:gd fmla="val 16667" name="adj"/>
            </a:avLst>
          </a:prstGeom>
          <a:solidFill>
            <a:srgbClr val="229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 name="Google Shape;90;p1"/>
          <p:cNvSpPr/>
          <p:nvPr/>
        </p:nvSpPr>
        <p:spPr>
          <a:xfrm>
            <a:off x="9372600" y="3246120"/>
            <a:ext cx="457200" cy="1554480"/>
          </a:xfrm>
          <a:prstGeom prst="roundRect">
            <a:avLst>
              <a:gd fmla="val 16667" name="adj"/>
            </a:avLst>
          </a:prstGeom>
          <a:solidFill>
            <a:srgbClr val="3767B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1" name="Google Shape;91;p1"/>
          <p:cNvSpPr/>
          <p:nvPr/>
        </p:nvSpPr>
        <p:spPr>
          <a:xfrm>
            <a:off x="10195560" y="2926080"/>
            <a:ext cx="457200" cy="2194560"/>
          </a:xfrm>
          <a:prstGeom prst="roundRect">
            <a:avLst>
              <a:gd fmla="val 16667" name="adj"/>
            </a:avLst>
          </a:prstGeom>
          <a:solidFill>
            <a:srgbClr val="E6913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 name="Google Shape;92;p1"/>
          <p:cNvSpPr/>
          <p:nvPr/>
        </p:nvSpPr>
        <p:spPr>
          <a:xfrm>
            <a:off x="11018520" y="2606040"/>
            <a:ext cx="457200" cy="2834640"/>
          </a:xfrm>
          <a:prstGeom prst="roundRect">
            <a:avLst>
              <a:gd fmla="val 16667" name="adj"/>
            </a:avLst>
          </a:prstGeom>
          <a:solidFill>
            <a:srgbClr val="7197C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 name="Google Shape;93;p1"/>
          <p:cNvSpPr txBox="1"/>
          <p:nvPr/>
        </p:nvSpPr>
        <p:spPr>
          <a:xfrm>
            <a:off x="804674" y="5120650"/>
            <a:ext cx="1393200" cy="75720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lang="en-US">
                <a:solidFill>
                  <a:srgbClr val="B7C6DC"/>
                </a:solidFill>
              </a:rPr>
              <a:t>Timothy Moisio</a:t>
            </a:r>
            <a:endParaRPr>
              <a:solidFill>
                <a:srgbClr val="B7C6DC"/>
              </a:solidFill>
            </a:endParaRPr>
          </a:p>
          <a:p>
            <a:pPr indent="0" lvl="0" marL="0" marR="0" rtl="0" algn="l">
              <a:spcBef>
                <a:spcPts val="0"/>
              </a:spcBef>
              <a:spcAft>
                <a:spcPts val="0"/>
              </a:spcAft>
              <a:buNone/>
            </a:pPr>
            <a:r>
              <a:rPr lang="en-US">
                <a:solidFill>
                  <a:srgbClr val="B7C6DC"/>
                </a:solidFill>
              </a:rPr>
              <a:t>Kallan Fuchs</a:t>
            </a:r>
            <a:endParaRPr>
              <a:solidFill>
                <a:srgbClr val="B7C6DC"/>
              </a:solidFill>
            </a:endParaRPr>
          </a:p>
          <a:p>
            <a:pPr indent="0" lvl="0" marL="0" marR="0" rtl="0" algn="l">
              <a:spcBef>
                <a:spcPts val="0"/>
              </a:spcBef>
              <a:spcAft>
                <a:spcPts val="0"/>
              </a:spcAft>
              <a:buNone/>
            </a:pPr>
            <a:r>
              <a:rPr lang="en-US">
                <a:solidFill>
                  <a:srgbClr val="B7C6DC"/>
                </a:solidFill>
              </a:rPr>
              <a:t>Benito Aguero</a:t>
            </a:r>
            <a:endParaRPr>
              <a:solidFill>
                <a:srgbClr val="B7C6DC"/>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 name="Shape 98"/>
        <p:cNvGrpSpPr/>
        <p:nvPr/>
      </p:nvGrpSpPr>
      <p:grpSpPr>
        <a:xfrm>
          <a:off x="0" y="0"/>
          <a:ext cx="0" cy="0"/>
          <a:chOff x="0" y="0"/>
          <a:chExt cx="0" cy="0"/>
        </a:xfrm>
      </p:grpSpPr>
      <p:sp>
        <p:nvSpPr>
          <p:cNvPr id="99" name="Google Shape;99;p2"/>
          <p:cNvSpPr txBox="1"/>
          <p:nvPr/>
        </p:nvSpPr>
        <p:spPr>
          <a:xfrm>
            <a:off x="594360" y="292608"/>
            <a:ext cx="10972800" cy="50292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2700" u="none" cap="none" strike="noStrike">
                <a:solidFill>
                  <a:srgbClr val="182746"/>
                </a:solidFill>
                <a:latin typeface="Arial"/>
                <a:ea typeface="Arial"/>
                <a:cs typeface="Arial"/>
                <a:sym typeface="Arial"/>
              </a:rPr>
              <a:t>1. The problem</a:t>
            </a:r>
            <a:endParaRPr/>
          </a:p>
        </p:txBody>
      </p:sp>
      <p:sp>
        <p:nvSpPr>
          <p:cNvPr id="100" name="Google Shape;100;p2"/>
          <p:cNvSpPr/>
          <p:nvPr/>
        </p:nvSpPr>
        <p:spPr>
          <a:xfrm>
            <a:off x="621792" y="914400"/>
            <a:ext cx="1005840" cy="59436"/>
          </a:xfrm>
          <a:prstGeom prst="rect">
            <a:avLst/>
          </a:prstGeom>
          <a:solidFill>
            <a:srgbClr val="229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1" name="Google Shape;101;p2"/>
          <p:cNvSpPr txBox="1"/>
          <p:nvPr/>
        </p:nvSpPr>
        <p:spPr>
          <a:xfrm>
            <a:off x="621792" y="1024128"/>
            <a:ext cx="10789920" cy="36576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300" u="none" cap="none" strike="noStrike">
                <a:solidFill>
                  <a:srgbClr val="5F6976"/>
                </a:solidFill>
                <a:latin typeface="Arial"/>
                <a:ea typeface="Arial"/>
                <a:cs typeface="Arial"/>
                <a:sym typeface="Arial"/>
              </a:rPr>
              <a:t>The order of merges changes the total cost.</a:t>
            </a:r>
            <a:endParaRPr/>
          </a:p>
        </p:txBody>
      </p:sp>
      <p:sp>
        <p:nvSpPr>
          <p:cNvPr id="102" name="Google Shape;102;p2"/>
          <p:cNvSpPr txBox="1"/>
          <p:nvPr/>
        </p:nvSpPr>
        <p:spPr>
          <a:xfrm>
            <a:off x="11201400" y="6473952"/>
            <a:ext cx="411480" cy="182880"/>
          </a:xfrm>
          <a:prstGeom prst="rect">
            <a:avLst/>
          </a:prstGeom>
          <a:noFill/>
          <a:ln>
            <a:noFill/>
          </a:ln>
        </p:spPr>
        <p:txBody>
          <a:bodyPr anchorCtr="0" anchor="t" bIns="54850" lIns="54850" spcFirstLastPara="1" rIns="54850" wrap="square" tIns="54850">
            <a:spAutoFit/>
          </a:bodyPr>
          <a:lstStyle/>
          <a:p>
            <a:pPr indent="0" lvl="0" marL="0" marR="0" rtl="0" algn="r">
              <a:spcBef>
                <a:spcPts val="0"/>
              </a:spcBef>
              <a:spcAft>
                <a:spcPts val="0"/>
              </a:spcAft>
              <a:buNone/>
            </a:pPr>
            <a:r>
              <a:rPr b="0" i="0" lang="en-US" sz="1000" u="none" cap="none" strike="noStrike">
                <a:solidFill>
                  <a:srgbClr val="5F6976"/>
                </a:solidFill>
                <a:latin typeface="Arial"/>
                <a:ea typeface="Arial"/>
                <a:cs typeface="Arial"/>
                <a:sym typeface="Arial"/>
              </a:rPr>
              <a:t>2</a:t>
            </a:r>
            <a:endParaRPr/>
          </a:p>
        </p:txBody>
      </p:sp>
      <p:sp>
        <p:nvSpPr>
          <p:cNvPr id="103" name="Google Shape;103;p2"/>
          <p:cNvSpPr/>
          <p:nvPr/>
        </p:nvSpPr>
        <p:spPr>
          <a:xfrm>
            <a:off x="731520" y="1828800"/>
            <a:ext cx="3337560" cy="2286000"/>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4" name="Google Shape;104;p2"/>
          <p:cNvSpPr txBox="1"/>
          <p:nvPr/>
        </p:nvSpPr>
        <p:spPr>
          <a:xfrm>
            <a:off x="896112" y="1956816"/>
            <a:ext cx="3008376" cy="347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1700" u="none" cap="none" strike="noStrike">
                <a:solidFill>
                  <a:srgbClr val="3767B0"/>
                </a:solidFill>
                <a:latin typeface="Arial"/>
                <a:ea typeface="Arial"/>
                <a:cs typeface="Arial"/>
                <a:sym typeface="Arial"/>
              </a:rPr>
              <a:t>Input</a:t>
            </a:r>
            <a:endParaRPr/>
          </a:p>
        </p:txBody>
      </p:sp>
      <p:sp>
        <p:nvSpPr>
          <p:cNvPr id="105" name="Google Shape;105;p2"/>
          <p:cNvSpPr txBox="1"/>
          <p:nvPr/>
        </p:nvSpPr>
        <p:spPr>
          <a:xfrm>
            <a:off x="896112" y="2395728"/>
            <a:ext cx="3008376" cy="162763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500" u="none" cap="none" strike="noStrike">
                <a:solidFill>
                  <a:srgbClr val="28303C"/>
                </a:solidFill>
                <a:latin typeface="Arial"/>
                <a:ea typeface="Arial"/>
                <a:cs typeface="Arial"/>
                <a:sym typeface="Arial"/>
              </a:rPr>
              <a:t>A list of N positive file sizes, such as [10, 30, 35, 60].</a:t>
            </a:r>
            <a:endParaRPr/>
          </a:p>
        </p:txBody>
      </p:sp>
      <p:sp>
        <p:nvSpPr>
          <p:cNvPr id="106" name="Google Shape;106;p2"/>
          <p:cNvSpPr/>
          <p:nvPr/>
        </p:nvSpPr>
        <p:spPr>
          <a:xfrm>
            <a:off x="4434840" y="1828800"/>
            <a:ext cx="3337560" cy="2286000"/>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7" name="Google Shape;107;p2"/>
          <p:cNvSpPr txBox="1"/>
          <p:nvPr/>
        </p:nvSpPr>
        <p:spPr>
          <a:xfrm>
            <a:off x="4599431" y="1956816"/>
            <a:ext cx="3008376" cy="347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1700" u="none" cap="none" strike="noStrike">
                <a:solidFill>
                  <a:srgbClr val="22918C"/>
                </a:solidFill>
                <a:latin typeface="Arial"/>
                <a:ea typeface="Arial"/>
                <a:cs typeface="Arial"/>
                <a:sym typeface="Arial"/>
              </a:rPr>
              <a:t>Merge rule</a:t>
            </a:r>
            <a:endParaRPr/>
          </a:p>
        </p:txBody>
      </p:sp>
      <p:sp>
        <p:nvSpPr>
          <p:cNvPr id="108" name="Google Shape;108;p2"/>
          <p:cNvSpPr txBox="1"/>
          <p:nvPr/>
        </p:nvSpPr>
        <p:spPr>
          <a:xfrm>
            <a:off x="4599431" y="2395728"/>
            <a:ext cx="3008376" cy="162763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500" u="none" cap="none" strike="noStrike">
                <a:solidFill>
                  <a:srgbClr val="28303C"/>
                </a:solidFill>
                <a:latin typeface="Arial"/>
                <a:ea typeface="Arial"/>
                <a:cs typeface="Arial"/>
                <a:sym typeface="Arial"/>
              </a:rPr>
              <a:t>Only two files can be merged at once. Cost = sum of their sizes.</a:t>
            </a:r>
            <a:endParaRPr/>
          </a:p>
        </p:txBody>
      </p:sp>
      <p:sp>
        <p:nvSpPr>
          <p:cNvPr id="109" name="Google Shape;109;p2"/>
          <p:cNvSpPr/>
          <p:nvPr/>
        </p:nvSpPr>
        <p:spPr>
          <a:xfrm>
            <a:off x="8138160" y="1828800"/>
            <a:ext cx="3337560" cy="2286000"/>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 name="Google Shape;110;p2"/>
          <p:cNvSpPr txBox="1"/>
          <p:nvPr/>
        </p:nvSpPr>
        <p:spPr>
          <a:xfrm>
            <a:off x="8302752" y="1956816"/>
            <a:ext cx="3008376" cy="347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1700" u="none" cap="none" strike="noStrike">
                <a:solidFill>
                  <a:srgbClr val="E69138"/>
                </a:solidFill>
                <a:latin typeface="Arial"/>
                <a:ea typeface="Arial"/>
                <a:cs typeface="Arial"/>
                <a:sym typeface="Arial"/>
              </a:rPr>
              <a:t>Goal</a:t>
            </a:r>
            <a:endParaRPr/>
          </a:p>
        </p:txBody>
      </p:sp>
      <p:sp>
        <p:nvSpPr>
          <p:cNvPr id="111" name="Google Shape;111;p2"/>
          <p:cNvSpPr txBox="1"/>
          <p:nvPr/>
        </p:nvSpPr>
        <p:spPr>
          <a:xfrm>
            <a:off x="8302752" y="2395728"/>
            <a:ext cx="3008376" cy="162763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500" u="none" cap="none" strike="noStrike">
                <a:solidFill>
                  <a:srgbClr val="28303C"/>
                </a:solidFill>
                <a:latin typeface="Arial"/>
                <a:ea typeface="Arial"/>
                <a:cs typeface="Arial"/>
                <a:sym typeface="Arial"/>
              </a:rPr>
              <a:t>Choose a merge order that minimizes the sum of all merge costs.</a:t>
            </a:r>
            <a:endParaRPr/>
          </a:p>
        </p:txBody>
      </p:sp>
      <p:sp>
        <p:nvSpPr>
          <p:cNvPr id="112" name="Google Shape;112;p2"/>
          <p:cNvSpPr txBox="1"/>
          <p:nvPr/>
        </p:nvSpPr>
        <p:spPr>
          <a:xfrm>
            <a:off x="914400" y="4800600"/>
            <a:ext cx="10332720" cy="68580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1900" u="none" cap="none" strike="noStrike">
                <a:solidFill>
                  <a:srgbClr val="182746"/>
                </a:solidFill>
                <a:latin typeface="Arial"/>
                <a:ea typeface="Arial"/>
                <a:cs typeface="Arial"/>
                <a:sym typeface="Arial"/>
              </a:rPr>
              <a:t>A combined file may be merged again, so a poor early choice can increase later costs.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sp>
        <p:nvSpPr>
          <p:cNvPr id="118" name="Google Shape;118;p3"/>
          <p:cNvSpPr txBox="1"/>
          <p:nvPr/>
        </p:nvSpPr>
        <p:spPr>
          <a:xfrm>
            <a:off x="594360" y="292608"/>
            <a:ext cx="10972800" cy="50292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2700" u="none" cap="none" strike="noStrike">
                <a:solidFill>
                  <a:srgbClr val="182746"/>
                </a:solidFill>
                <a:latin typeface="Arial"/>
                <a:ea typeface="Arial"/>
                <a:cs typeface="Arial"/>
                <a:sym typeface="Arial"/>
              </a:rPr>
              <a:t>2. Our strategy</a:t>
            </a:r>
            <a:endParaRPr/>
          </a:p>
        </p:txBody>
      </p:sp>
      <p:sp>
        <p:nvSpPr>
          <p:cNvPr id="119" name="Google Shape;119;p3"/>
          <p:cNvSpPr/>
          <p:nvPr/>
        </p:nvSpPr>
        <p:spPr>
          <a:xfrm>
            <a:off x="621792" y="914400"/>
            <a:ext cx="1005840" cy="59436"/>
          </a:xfrm>
          <a:prstGeom prst="rect">
            <a:avLst/>
          </a:prstGeom>
          <a:solidFill>
            <a:srgbClr val="229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0" name="Google Shape;120;p3"/>
          <p:cNvSpPr txBox="1"/>
          <p:nvPr/>
        </p:nvSpPr>
        <p:spPr>
          <a:xfrm>
            <a:off x="621792" y="1024128"/>
            <a:ext cx="10789920" cy="36576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300" u="none" cap="none" strike="noStrike">
                <a:solidFill>
                  <a:srgbClr val="5F6976"/>
                </a:solidFill>
                <a:latin typeface="Arial"/>
                <a:ea typeface="Arial"/>
                <a:cs typeface="Arial"/>
                <a:sym typeface="Arial"/>
              </a:rPr>
              <a:t>Greedy choice: always merge the two smallest files.</a:t>
            </a:r>
            <a:endParaRPr/>
          </a:p>
        </p:txBody>
      </p:sp>
      <p:sp>
        <p:nvSpPr>
          <p:cNvPr id="121" name="Google Shape;121;p3"/>
          <p:cNvSpPr txBox="1"/>
          <p:nvPr/>
        </p:nvSpPr>
        <p:spPr>
          <a:xfrm>
            <a:off x="11201400" y="6473952"/>
            <a:ext cx="411480" cy="182880"/>
          </a:xfrm>
          <a:prstGeom prst="rect">
            <a:avLst/>
          </a:prstGeom>
          <a:noFill/>
          <a:ln>
            <a:noFill/>
          </a:ln>
        </p:spPr>
        <p:txBody>
          <a:bodyPr anchorCtr="0" anchor="t" bIns="54850" lIns="54850" spcFirstLastPara="1" rIns="54850" wrap="square" tIns="54850">
            <a:spAutoFit/>
          </a:bodyPr>
          <a:lstStyle/>
          <a:p>
            <a:pPr indent="0" lvl="0" marL="0" marR="0" rtl="0" algn="r">
              <a:spcBef>
                <a:spcPts val="0"/>
              </a:spcBef>
              <a:spcAft>
                <a:spcPts val="0"/>
              </a:spcAft>
              <a:buNone/>
            </a:pPr>
            <a:r>
              <a:rPr b="0" i="0" lang="en-US" sz="1000" u="none" cap="none" strike="noStrike">
                <a:solidFill>
                  <a:srgbClr val="5F6976"/>
                </a:solidFill>
                <a:latin typeface="Arial"/>
                <a:ea typeface="Arial"/>
                <a:cs typeface="Arial"/>
                <a:sym typeface="Arial"/>
              </a:rPr>
              <a:t>3</a:t>
            </a:r>
            <a:endParaRPr/>
          </a:p>
        </p:txBody>
      </p:sp>
      <p:sp>
        <p:nvSpPr>
          <p:cNvPr id="122" name="Google Shape;122;p3"/>
          <p:cNvSpPr/>
          <p:nvPr/>
        </p:nvSpPr>
        <p:spPr>
          <a:xfrm>
            <a:off x="1463040" y="1828800"/>
            <a:ext cx="566928" cy="566928"/>
          </a:xfrm>
          <a:prstGeom prst="ellipse">
            <a:avLst/>
          </a:prstGeom>
          <a:solidFill>
            <a:srgbClr val="3767B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3"/>
          <p:cNvSpPr txBox="1"/>
          <p:nvPr/>
        </p:nvSpPr>
        <p:spPr>
          <a:xfrm>
            <a:off x="1463040" y="1901952"/>
            <a:ext cx="566928" cy="32004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1700" u="none" cap="none" strike="noStrike">
                <a:solidFill>
                  <a:srgbClr val="FFFFFF"/>
                </a:solidFill>
                <a:latin typeface="Arial"/>
                <a:ea typeface="Arial"/>
                <a:cs typeface="Arial"/>
                <a:sym typeface="Arial"/>
              </a:rPr>
              <a:t>1</a:t>
            </a:r>
            <a:endParaRPr/>
          </a:p>
        </p:txBody>
      </p:sp>
      <p:sp>
        <p:nvSpPr>
          <p:cNvPr id="124" name="Google Shape;124;p3"/>
          <p:cNvSpPr txBox="1"/>
          <p:nvPr/>
        </p:nvSpPr>
        <p:spPr>
          <a:xfrm>
            <a:off x="685800" y="2606040"/>
            <a:ext cx="2194560" cy="5029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1600" u="none" cap="none" strike="noStrike">
                <a:solidFill>
                  <a:srgbClr val="182746"/>
                </a:solidFill>
                <a:latin typeface="Arial"/>
                <a:ea typeface="Arial"/>
                <a:cs typeface="Arial"/>
                <a:sym typeface="Arial"/>
              </a:rPr>
              <a:t>Pop two minimums</a:t>
            </a:r>
            <a:endParaRPr/>
          </a:p>
        </p:txBody>
      </p:sp>
      <p:sp>
        <p:nvSpPr>
          <p:cNvPr id="125" name="Google Shape;125;p3"/>
          <p:cNvSpPr txBox="1"/>
          <p:nvPr/>
        </p:nvSpPr>
        <p:spPr>
          <a:xfrm>
            <a:off x="685800" y="3182112"/>
            <a:ext cx="2194560" cy="91440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0" i="0" lang="en-US" sz="1300" u="none" cap="none" strike="noStrike">
                <a:solidFill>
                  <a:srgbClr val="28303C"/>
                </a:solidFill>
                <a:latin typeface="Arial"/>
                <a:ea typeface="Arial"/>
                <a:cs typeface="Arial"/>
                <a:sym typeface="Arial"/>
              </a:rPr>
              <a:t>The min-heap exposes the smallest value at its root.</a:t>
            </a:r>
            <a:endParaRPr/>
          </a:p>
        </p:txBody>
      </p:sp>
      <p:sp>
        <p:nvSpPr>
          <p:cNvPr id="126" name="Google Shape;126;p3"/>
          <p:cNvSpPr txBox="1"/>
          <p:nvPr/>
        </p:nvSpPr>
        <p:spPr>
          <a:xfrm>
            <a:off x="2880360" y="1920240"/>
            <a:ext cx="457200" cy="32004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2300" u="none" cap="none" strike="noStrike">
                <a:solidFill>
                  <a:srgbClr val="5F6976"/>
                </a:solidFill>
                <a:latin typeface="Arial"/>
                <a:ea typeface="Arial"/>
                <a:cs typeface="Arial"/>
                <a:sym typeface="Arial"/>
              </a:rPr>
              <a:t>→</a:t>
            </a:r>
            <a:endParaRPr/>
          </a:p>
        </p:txBody>
      </p:sp>
      <p:sp>
        <p:nvSpPr>
          <p:cNvPr id="127" name="Google Shape;127;p3"/>
          <p:cNvSpPr/>
          <p:nvPr/>
        </p:nvSpPr>
        <p:spPr>
          <a:xfrm>
            <a:off x="4343400" y="1828800"/>
            <a:ext cx="566928" cy="566928"/>
          </a:xfrm>
          <a:prstGeom prst="ellipse">
            <a:avLst/>
          </a:prstGeom>
          <a:solidFill>
            <a:srgbClr val="229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8" name="Google Shape;128;p3"/>
          <p:cNvSpPr txBox="1"/>
          <p:nvPr/>
        </p:nvSpPr>
        <p:spPr>
          <a:xfrm>
            <a:off x="4343400" y="1901952"/>
            <a:ext cx="566928" cy="32004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1700" u="none" cap="none" strike="noStrike">
                <a:solidFill>
                  <a:srgbClr val="FFFFFF"/>
                </a:solidFill>
                <a:latin typeface="Arial"/>
                <a:ea typeface="Arial"/>
                <a:cs typeface="Arial"/>
                <a:sym typeface="Arial"/>
              </a:rPr>
              <a:t>2</a:t>
            </a:r>
            <a:endParaRPr/>
          </a:p>
        </p:txBody>
      </p:sp>
      <p:sp>
        <p:nvSpPr>
          <p:cNvPr id="129" name="Google Shape;129;p3"/>
          <p:cNvSpPr txBox="1"/>
          <p:nvPr/>
        </p:nvSpPr>
        <p:spPr>
          <a:xfrm>
            <a:off x="3566159" y="2606040"/>
            <a:ext cx="2194560" cy="5029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1600" u="none" cap="none" strike="noStrike">
                <a:solidFill>
                  <a:srgbClr val="182746"/>
                </a:solidFill>
                <a:latin typeface="Arial"/>
                <a:ea typeface="Arial"/>
                <a:cs typeface="Arial"/>
                <a:sym typeface="Arial"/>
              </a:rPr>
              <a:t>Combine</a:t>
            </a:r>
            <a:endParaRPr/>
          </a:p>
        </p:txBody>
      </p:sp>
      <p:sp>
        <p:nvSpPr>
          <p:cNvPr id="130" name="Google Shape;130;p3"/>
          <p:cNvSpPr txBox="1"/>
          <p:nvPr/>
        </p:nvSpPr>
        <p:spPr>
          <a:xfrm>
            <a:off x="3566159" y="3182112"/>
            <a:ext cx="2194560" cy="91440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0" i="0" lang="en-US" sz="1300" u="none" cap="none" strike="noStrike">
                <a:solidFill>
                  <a:srgbClr val="28303C"/>
                </a:solidFill>
                <a:latin typeface="Arial"/>
                <a:ea typeface="Arial"/>
                <a:cs typeface="Arial"/>
                <a:sym typeface="Arial"/>
              </a:rPr>
              <a:t>Add the two sizes to create the new file.</a:t>
            </a:r>
            <a:endParaRPr/>
          </a:p>
        </p:txBody>
      </p:sp>
      <p:sp>
        <p:nvSpPr>
          <p:cNvPr id="131" name="Google Shape;131;p3"/>
          <p:cNvSpPr txBox="1"/>
          <p:nvPr/>
        </p:nvSpPr>
        <p:spPr>
          <a:xfrm>
            <a:off x="5760720" y="1920240"/>
            <a:ext cx="457200" cy="32004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2300" u="none" cap="none" strike="noStrike">
                <a:solidFill>
                  <a:srgbClr val="5F6976"/>
                </a:solidFill>
                <a:latin typeface="Arial"/>
                <a:ea typeface="Arial"/>
                <a:cs typeface="Arial"/>
                <a:sym typeface="Arial"/>
              </a:rPr>
              <a:t>→</a:t>
            </a:r>
            <a:endParaRPr/>
          </a:p>
        </p:txBody>
      </p:sp>
      <p:sp>
        <p:nvSpPr>
          <p:cNvPr id="132" name="Google Shape;132;p3"/>
          <p:cNvSpPr/>
          <p:nvPr/>
        </p:nvSpPr>
        <p:spPr>
          <a:xfrm>
            <a:off x="7223760" y="1828800"/>
            <a:ext cx="566928" cy="566928"/>
          </a:xfrm>
          <a:prstGeom prst="ellipse">
            <a:avLst/>
          </a:prstGeom>
          <a:solidFill>
            <a:srgbClr val="E6913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3"/>
          <p:cNvSpPr txBox="1"/>
          <p:nvPr/>
        </p:nvSpPr>
        <p:spPr>
          <a:xfrm>
            <a:off x="7223760" y="1901952"/>
            <a:ext cx="566928" cy="32004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1700" u="none" cap="none" strike="noStrike">
                <a:solidFill>
                  <a:srgbClr val="FFFFFF"/>
                </a:solidFill>
                <a:latin typeface="Arial"/>
                <a:ea typeface="Arial"/>
                <a:cs typeface="Arial"/>
                <a:sym typeface="Arial"/>
              </a:rPr>
              <a:t>3</a:t>
            </a:r>
            <a:endParaRPr/>
          </a:p>
        </p:txBody>
      </p:sp>
      <p:sp>
        <p:nvSpPr>
          <p:cNvPr id="134" name="Google Shape;134;p3"/>
          <p:cNvSpPr txBox="1"/>
          <p:nvPr/>
        </p:nvSpPr>
        <p:spPr>
          <a:xfrm>
            <a:off x="6446520" y="2606040"/>
            <a:ext cx="2194560" cy="5029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1600" u="none" cap="none" strike="noStrike">
                <a:solidFill>
                  <a:srgbClr val="182746"/>
                </a:solidFill>
                <a:latin typeface="Arial"/>
                <a:ea typeface="Arial"/>
                <a:cs typeface="Arial"/>
                <a:sym typeface="Arial"/>
              </a:rPr>
              <a:t>Add cost</a:t>
            </a:r>
            <a:endParaRPr/>
          </a:p>
        </p:txBody>
      </p:sp>
      <p:sp>
        <p:nvSpPr>
          <p:cNvPr id="135" name="Google Shape;135;p3"/>
          <p:cNvSpPr txBox="1"/>
          <p:nvPr/>
        </p:nvSpPr>
        <p:spPr>
          <a:xfrm>
            <a:off x="6446520" y="3182112"/>
            <a:ext cx="2194560" cy="91440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0" i="0" lang="en-US" sz="1300" u="none" cap="none" strike="noStrike">
                <a:solidFill>
                  <a:srgbClr val="28303C"/>
                </a:solidFill>
                <a:latin typeface="Arial"/>
                <a:ea typeface="Arial"/>
                <a:cs typeface="Arial"/>
                <a:sym typeface="Arial"/>
              </a:rPr>
              <a:t>Add the new file size to the running total.</a:t>
            </a:r>
            <a:endParaRPr/>
          </a:p>
        </p:txBody>
      </p:sp>
      <p:sp>
        <p:nvSpPr>
          <p:cNvPr id="136" name="Google Shape;136;p3"/>
          <p:cNvSpPr txBox="1"/>
          <p:nvPr/>
        </p:nvSpPr>
        <p:spPr>
          <a:xfrm>
            <a:off x="8641080" y="1920240"/>
            <a:ext cx="457200" cy="32004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2300" u="none" cap="none" strike="noStrike">
                <a:solidFill>
                  <a:srgbClr val="5F6976"/>
                </a:solidFill>
                <a:latin typeface="Arial"/>
                <a:ea typeface="Arial"/>
                <a:cs typeface="Arial"/>
                <a:sym typeface="Arial"/>
              </a:rPr>
              <a:t>→</a:t>
            </a:r>
            <a:endParaRPr/>
          </a:p>
        </p:txBody>
      </p:sp>
      <p:sp>
        <p:nvSpPr>
          <p:cNvPr id="137" name="Google Shape;137;p3"/>
          <p:cNvSpPr/>
          <p:nvPr/>
        </p:nvSpPr>
        <p:spPr>
          <a:xfrm>
            <a:off x="10104119" y="1828800"/>
            <a:ext cx="566928" cy="566928"/>
          </a:xfrm>
          <a:prstGeom prst="ellipse">
            <a:avLst/>
          </a:prstGeom>
          <a:solidFill>
            <a:srgbClr val="18274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Google Shape;138;p3"/>
          <p:cNvSpPr txBox="1"/>
          <p:nvPr/>
        </p:nvSpPr>
        <p:spPr>
          <a:xfrm>
            <a:off x="10104119" y="1901952"/>
            <a:ext cx="566928" cy="32004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1700" u="none" cap="none" strike="noStrike">
                <a:solidFill>
                  <a:srgbClr val="FFFFFF"/>
                </a:solidFill>
                <a:latin typeface="Arial"/>
                <a:ea typeface="Arial"/>
                <a:cs typeface="Arial"/>
                <a:sym typeface="Arial"/>
              </a:rPr>
              <a:t>4</a:t>
            </a:r>
            <a:endParaRPr/>
          </a:p>
        </p:txBody>
      </p:sp>
      <p:sp>
        <p:nvSpPr>
          <p:cNvPr id="139" name="Google Shape;139;p3"/>
          <p:cNvSpPr txBox="1"/>
          <p:nvPr/>
        </p:nvSpPr>
        <p:spPr>
          <a:xfrm>
            <a:off x="9326880" y="2606040"/>
            <a:ext cx="2194560" cy="5029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1600" u="none" cap="none" strike="noStrike">
                <a:solidFill>
                  <a:srgbClr val="182746"/>
                </a:solidFill>
                <a:latin typeface="Arial"/>
                <a:ea typeface="Arial"/>
                <a:cs typeface="Arial"/>
                <a:sym typeface="Arial"/>
              </a:rPr>
              <a:t>Push and repeat</a:t>
            </a:r>
            <a:endParaRPr/>
          </a:p>
        </p:txBody>
      </p:sp>
      <p:sp>
        <p:nvSpPr>
          <p:cNvPr id="140" name="Google Shape;140;p3"/>
          <p:cNvSpPr txBox="1"/>
          <p:nvPr/>
        </p:nvSpPr>
        <p:spPr>
          <a:xfrm>
            <a:off x="9326880" y="3182112"/>
            <a:ext cx="2194560" cy="91440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0" i="0" lang="en-US" sz="1300" u="none" cap="none" strike="noStrike">
                <a:solidFill>
                  <a:srgbClr val="28303C"/>
                </a:solidFill>
                <a:latin typeface="Arial"/>
                <a:ea typeface="Arial"/>
                <a:cs typeface="Arial"/>
                <a:sym typeface="Arial"/>
              </a:rPr>
              <a:t>Reinsert the new size until one file remains.</a:t>
            </a:r>
            <a:endParaRPr/>
          </a:p>
        </p:txBody>
      </p:sp>
      <p:sp>
        <p:nvSpPr>
          <p:cNvPr id="141" name="Google Shape;141;p3"/>
          <p:cNvSpPr txBox="1"/>
          <p:nvPr/>
        </p:nvSpPr>
        <p:spPr>
          <a:xfrm>
            <a:off x="1005840" y="4892040"/>
            <a:ext cx="10149840" cy="5029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1700" u="none" cap="none" strike="noStrike">
                <a:solidFill>
                  <a:srgbClr val="22918C"/>
                </a:solidFill>
                <a:latin typeface="Arial"/>
                <a:ea typeface="Arial"/>
                <a:cs typeface="Arial"/>
                <a:sym typeface="Arial"/>
              </a:rPr>
              <a:t>The heap is not fully sorted; it guarantees the minimum is at index 0.</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 name="Shape 146"/>
        <p:cNvGrpSpPr/>
        <p:nvPr/>
      </p:nvGrpSpPr>
      <p:grpSpPr>
        <a:xfrm>
          <a:off x="0" y="0"/>
          <a:ext cx="0" cy="0"/>
          <a:chOff x="0" y="0"/>
          <a:chExt cx="0" cy="0"/>
        </a:xfrm>
      </p:grpSpPr>
      <p:sp>
        <p:nvSpPr>
          <p:cNvPr id="147" name="Google Shape;147;p4"/>
          <p:cNvSpPr txBox="1"/>
          <p:nvPr/>
        </p:nvSpPr>
        <p:spPr>
          <a:xfrm>
            <a:off x="594360" y="292608"/>
            <a:ext cx="10972800" cy="50292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2700" u="none" cap="none" strike="noStrike">
                <a:solidFill>
                  <a:srgbClr val="182746"/>
                </a:solidFill>
                <a:latin typeface="Arial"/>
                <a:ea typeface="Arial"/>
                <a:cs typeface="Arial"/>
                <a:sym typeface="Arial"/>
              </a:rPr>
              <a:t>3. Example: follow the merge costs</a:t>
            </a:r>
            <a:endParaRPr/>
          </a:p>
        </p:txBody>
      </p:sp>
      <p:sp>
        <p:nvSpPr>
          <p:cNvPr id="148" name="Google Shape;148;p4"/>
          <p:cNvSpPr/>
          <p:nvPr/>
        </p:nvSpPr>
        <p:spPr>
          <a:xfrm>
            <a:off x="621792" y="914400"/>
            <a:ext cx="1005840" cy="59436"/>
          </a:xfrm>
          <a:prstGeom prst="rect">
            <a:avLst/>
          </a:prstGeom>
          <a:solidFill>
            <a:srgbClr val="229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4"/>
          <p:cNvSpPr txBox="1"/>
          <p:nvPr/>
        </p:nvSpPr>
        <p:spPr>
          <a:xfrm>
            <a:off x="621792" y="1024128"/>
            <a:ext cx="10789920" cy="36576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300" u="none" cap="none" strike="noStrike">
                <a:solidFill>
                  <a:srgbClr val="5F6976"/>
                </a:solidFill>
                <a:latin typeface="Arial"/>
                <a:ea typeface="Arial"/>
                <a:cs typeface="Arial"/>
                <a:sym typeface="Arial"/>
              </a:rPr>
              <a:t>Starting sizes: [10, 30, 35, 60, 85, 90]</a:t>
            </a:r>
            <a:endParaRPr/>
          </a:p>
        </p:txBody>
      </p:sp>
      <p:sp>
        <p:nvSpPr>
          <p:cNvPr id="150" name="Google Shape;150;p4"/>
          <p:cNvSpPr txBox="1"/>
          <p:nvPr/>
        </p:nvSpPr>
        <p:spPr>
          <a:xfrm>
            <a:off x="11201400" y="6473952"/>
            <a:ext cx="411480" cy="182880"/>
          </a:xfrm>
          <a:prstGeom prst="rect">
            <a:avLst/>
          </a:prstGeom>
          <a:noFill/>
          <a:ln>
            <a:noFill/>
          </a:ln>
        </p:spPr>
        <p:txBody>
          <a:bodyPr anchorCtr="0" anchor="t" bIns="54850" lIns="54850" spcFirstLastPara="1" rIns="54850" wrap="square" tIns="54850">
            <a:spAutoFit/>
          </a:bodyPr>
          <a:lstStyle/>
          <a:p>
            <a:pPr indent="0" lvl="0" marL="0" marR="0" rtl="0" algn="r">
              <a:spcBef>
                <a:spcPts val="0"/>
              </a:spcBef>
              <a:spcAft>
                <a:spcPts val="0"/>
              </a:spcAft>
              <a:buNone/>
            </a:pPr>
            <a:r>
              <a:rPr b="0" i="0" lang="en-US" sz="1000" u="none" cap="none" strike="noStrike">
                <a:solidFill>
                  <a:srgbClr val="5F6976"/>
                </a:solidFill>
                <a:latin typeface="Arial"/>
                <a:ea typeface="Arial"/>
                <a:cs typeface="Arial"/>
                <a:sym typeface="Arial"/>
              </a:rPr>
              <a:t>4</a:t>
            </a:r>
            <a:endParaRPr/>
          </a:p>
        </p:txBody>
      </p:sp>
      <p:sp>
        <p:nvSpPr>
          <p:cNvPr id="151" name="Google Shape;151;p4"/>
          <p:cNvSpPr/>
          <p:nvPr/>
        </p:nvSpPr>
        <p:spPr>
          <a:xfrm>
            <a:off x="1234440" y="1783080"/>
            <a:ext cx="2971800" cy="411480"/>
          </a:xfrm>
          <a:prstGeom prst="roundRect">
            <a:avLst>
              <a:gd fmla="val 16667" name="adj"/>
            </a:avLst>
          </a:prstGeom>
          <a:solidFill>
            <a:srgbClr val="18274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 name="Google Shape;152;p4"/>
          <p:cNvSpPr txBox="1"/>
          <p:nvPr/>
        </p:nvSpPr>
        <p:spPr>
          <a:xfrm>
            <a:off x="1271016" y="1828800"/>
            <a:ext cx="2898648" cy="2743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1400" u="none" cap="none" strike="noStrike">
                <a:solidFill>
                  <a:srgbClr val="FFFFFF"/>
                </a:solidFill>
                <a:latin typeface="Arial"/>
                <a:ea typeface="Arial"/>
                <a:cs typeface="Arial"/>
                <a:sym typeface="Arial"/>
              </a:rPr>
              <a:t>Files merged</a:t>
            </a:r>
            <a:endParaRPr/>
          </a:p>
        </p:txBody>
      </p:sp>
      <p:sp>
        <p:nvSpPr>
          <p:cNvPr id="153" name="Google Shape;153;p4"/>
          <p:cNvSpPr/>
          <p:nvPr/>
        </p:nvSpPr>
        <p:spPr>
          <a:xfrm>
            <a:off x="4334256" y="1783080"/>
            <a:ext cx="2560320" cy="411480"/>
          </a:xfrm>
          <a:prstGeom prst="roundRect">
            <a:avLst>
              <a:gd fmla="val 16667" name="adj"/>
            </a:avLst>
          </a:prstGeom>
          <a:solidFill>
            <a:srgbClr val="18274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4"/>
          <p:cNvSpPr txBox="1"/>
          <p:nvPr/>
        </p:nvSpPr>
        <p:spPr>
          <a:xfrm>
            <a:off x="4370832" y="1828800"/>
            <a:ext cx="2487168" cy="2743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1400" u="none" cap="none" strike="noStrike">
                <a:solidFill>
                  <a:srgbClr val="FFFFFF"/>
                </a:solidFill>
                <a:latin typeface="Arial"/>
                <a:ea typeface="Arial"/>
                <a:cs typeface="Arial"/>
                <a:sym typeface="Arial"/>
              </a:rPr>
              <a:t>New size / cost</a:t>
            </a:r>
            <a:endParaRPr/>
          </a:p>
        </p:txBody>
      </p:sp>
      <p:sp>
        <p:nvSpPr>
          <p:cNvPr id="155" name="Google Shape;155;p4"/>
          <p:cNvSpPr/>
          <p:nvPr/>
        </p:nvSpPr>
        <p:spPr>
          <a:xfrm>
            <a:off x="7022592" y="1783080"/>
            <a:ext cx="2743200" cy="411480"/>
          </a:xfrm>
          <a:prstGeom prst="roundRect">
            <a:avLst>
              <a:gd fmla="val 16667" name="adj"/>
            </a:avLst>
          </a:prstGeom>
          <a:solidFill>
            <a:srgbClr val="18274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 name="Google Shape;156;p4"/>
          <p:cNvSpPr txBox="1"/>
          <p:nvPr/>
        </p:nvSpPr>
        <p:spPr>
          <a:xfrm>
            <a:off x="7059168" y="1828800"/>
            <a:ext cx="2670048" cy="2743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1400" u="none" cap="none" strike="noStrike">
                <a:solidFill>
                  <a:srgbClr val="FFFFFF"/>
                </a:solidFill>
                <a:latin typeface="Arial"/>
                <a:ea typeface="Arial"/>
                <a:cs typeface="Arial"/>
                <a:sym typeface="Arial"/>
              </a:rPr>
              <a:t>Running total</a:t>
            </a:r>
            <a:endParaRPr/>
          </a:p>
        </p:txBody>
      </p:sp>
      <p:sp>
        <p:nvSpPr>
          <p:cNvPr id="157" name="Google Shape;157;p4"/>
          <p:cNvSpPr/>
          <p:nvPr/>
        </p:nvSpPr>
        <p:spPr>
          <a:xfrm>
            <a:off x="1234440" y="2313432"/>
            <a:ext cx="2971800" cy="393192"/>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4"/>
          <p:cNvSpPr txBox="1"/>
          <p:nvPr/>
        </p:nvSpPr>
        <p:spPr>
          <a:xfrm>
            <a:off x="1271016" y="2359151"/>
            <a:ext cx="2898648" cy="2743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0" i="0" lang="en-US" sz="1500" u="none" cap="none" strike="noStrike">
                <a:solidFill>
                  <a:srgbClr val="28303C"/>
                </a:solidFill>
                <a:latin typeface="Arial"/>
                <a:ea typeface="Arial"/>
                <a:cs typeface="Arial"/>
                <a:sym typeface="Arial"/>
              </a:rPr>
              <a:t>10 + 30</a:t>
            </a:r>
            <a:endParaRPr/>
          </a:p>
        </p:txBody>
      </p:sp>
      <p:sp>
        <p:nvSpPr>
          <p:cNvPr id="159" name="Google Shape;159;p4"/>
          <p:cNvSpPr/>
          <p:nvPr/>
        </p:nvSpPr>
        <p:spPr>
          <a:xfrm>
            <a:off x="4334256" y="2313432"/>
            <a:ext cx="2560320" cy="393192"/>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4"/>
          <p:cNvSpPr txBox="1"/>
          <p:nvPr/>
        </p:nvSpPr>
        <p:spPr>
          <a:xfrm>
            <a:off x="4370832" y="2359151"/>
            <a:ext cx="2487168" cy="2743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0" i="0" lang="en-US" sz="1500" u="none" cap="none" strike="noStrike">
                <a:solidFill>
                  <a:srgbClr val="28303C"/>
                </a:solidFill>
                <a:latin typeface="Arial"/>
                <a:ea typeface="Arial"/>
                <a:cs typeface="Arial"/>
                <a:sym typeface="Arial"/>
              </a:rPr>
              <a:t>40</a:t>
            </a:r>
            <a:endParaRPr/>
          </a:p>
        </p:txBody>
      </p:sp>
      <p:sp>
        <p:nvSpPr>
          <p:cNvPr id="161" name="Google Shape;161;p4"/>
          <p:cNvSpPr/>
          <p:nvPr/>
        </p:nvSpPr>
        <p:spPr>
          <a:xfrm>
            <a:off x="7022592" y="2313432"/>
            <a:ext cx="2743200" cy="393192"/>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4"/>
          <p:cNvSpPr txBox="1"/>
          <p:nvPr/>
        </p:nvSpPr>
        <p:spPr>
          <a:xfrm>
            <a:off x="7059168" y="2359151"/>
            <a:ext cx="2670048" cy="2743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1500" u="none" cap="none" strike="noStrike">
                <a:solidFill>
                  <a:srgbClr val="22918C"/>
                </a:solidFill>
                <a:latin typeface="Arial"/>
                <a:ea typeface="Arial"/>
                <a:cs typeface="Arial"/>
                <a:sym typeface="Arial"/>
              </a:rPr>
              <a:t>40</a:t>
            </a:r>
            <a:endParaRPr/>
          </a:p>
        </p:txBody>
      </p:sp>
      <p:sp>
        <p:nvSpPr>
          <p:cNvPr id="163" name="Google Shape;163;p4"/>
          <p:cNvSpPr/>
          <p:nvPr/>
        </p:nvSpPr>
        <p:spPr>
          <a:xfrm>
            <a:off x="1234440" y="2843784"/>
            <a:ext cx="2971800" cy="393192"/>
          </a:xfrm>
          <a:prstGeom prst="roundRect">
            <a:avLst>
              <a:gd fmla="val 16667" name="adj"/>
            </a:avLst>
          </a:prstGeom>
          <a:solidFill>
            <a:srgbClr val="F8FAFD"/>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4"/>
          <p:cNvSpPr txBox="1"/>
          <p:nvPr/>
        </p:nvSpPr>
        <p:spPr>
          <a:xfrm>
            <a:off x="1271016" y="2889503"/>
            <a:ext cx="2898648" cy="2743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0" i="0" lang="en-US" sz="1500" u="none" cap="none" strike="noStrike">
                <a:solidFill>
                  <a:srgbClr val="28303C"/>
                </a:solidFill>
                <a:latin typeface="Arial"/>
                <a:ea typeface="Arial"/>
                <a:cs typeface="Arial"/>
                <a:sym typeface="Arial"/>
              </a:rPr>
              <a:t>35 + 40</a:t>
            </a:r>
            <a:endParaRPr/>
          </a:p>
        </p:txBody>
      </p:sp>
      <p:sp>
        <p:nvSpPr>
          <p:cNvPr id="165" name="Google Shape;165;p4"/>
          <p:cNvSpPr/>
          <p:nvPr/>
        </p:nvSpPr>
        <p:spPr>
          <a:xfrm>
            <a:off x="4334256" y="2843784"/>
            <a:ext cx="2560320" cy="393192"/>
          </a:xfrm>
          <a:prstGeom prst="roundRect">
            <a:avLst>
              <a:gd fmla="val 16667" name="adj"/>
            </a:avLst>
          </a:prstGeom>
          <a:solidFill>
            <a:srgbClr val="F8FAFD"/>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p4"/>
          <p:cNvSpPr txBox="1"/>
          <p:nvPr/>
        </p:nvSpPr>
        <p:spPr>
          <a:xfrm>
            <a:off x="4370832" y="2889503"/>
            <a:ext cx="2487168" cy="2743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0" i="0" lang="en-US" sz="1500" u="none" cap="none" strike="noStrike">
                <a:solidFill>
                  <a:srgbClr val="28303C"/>
                </a:solidFill>
                <a:latin typeface="Arial"/>
                <a:ea typeface="Arial"/>
                <a:cs typeface="Arial"/>
                <a:sym typeface="Arial"/>
              </a:rPr>
              <a:t>75</a:t>
            </a:r>
            <a:endParaRPr/>
          </a:p>
        </p:txBody>
      </p:sp>
      <p:sp>
        <p:nvSpPr>
          <p:cNvPr id="167" name="Google Shape;167;p4"/>
          <p:cNvSpPr/>
          <p:nvPr/>
        </p:nvSpPr>
        <p:spPr>
          <a:xfrm>
            <a:off x="7022592" y="2843784"/>
            <a:ext cx="2743200" cy="393192"/>
          </a:xfrm>
          <a:prstGeom prst="roundRect">
            <a:avLst>
              <a:gd fmla="val 16667" name="adj"/>
            </a:avLst>
          </a:prstGeom>
          <a:solidFill>
            <a:srgbClr val="F8FAFD"/>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4"/>
          <p:cNvSpPr txBox="1"/>
          <p:nvPr/>
        </p:nvSpPr>
        <p:spPr>
          <a:xfrm>
            <a:off x="7059168" y="2889503"/>
            <a:ext cx="2670048" cy="2743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1500" u="none" cap="none" strike="noStrike">
                <a:solidFill>
                  <a:srgbClr val="22918C"/>
                </a:solidFill>
                <a:latin typeface="Arial"/>
                <a:ea typeface="Arial"/>
                <a:cs typeface="Arial"/>
                <a:sym typeface="Arial"/>
              </a:rPr>
              <a:t>115</a:t>
            </a:r>
            <a:endParaRPr/>
          </a:p>
        </p:txBody>
      </p:sp>
      <p:sp>
        <p:nvSpPr>
          <p:cNvPr id="169" name="Google Shape;169;p4"/>
          <p:cNvSpPr/>
          <p:nvPr/>
        </p:nvSpPr>
        <p:spPr>
          <a:xfrm>
            <a:off x="1234440" y="3374135"/>
            <a:ext cx="2971800" cy="393192"/>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4"/>
          <p:cNvSpPr txBox="1"/>
          <p:nvPr/>
        </p:nvSpPr>
        <p:spPr>
          <a:xfrm>
            <a:off x="1271016" y="3419855"/>
            <a:ext cx="2898648" cy="2743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0" i="0" lang="en-US" sz="1500" u="none" cap="none" strike="noStrike">
                <a:solidFill>
                  <a:srgbClr val="28303C"/>
                </a:solidFill>
                <a:latin typeface="Arial"/>
                <a:ea typeface="Arial"/>
                <a:cs typeface="Arial"/>
                <a:sym typeface="Arial"/>
              </a:rPr>
              <a:t>60 + 75</a:t>
            </a:r>
            <a:endParaRPr/>
          </a:p>
        </p:txBody>
      </p:sp>
      <p:sp>
        <p:nvSpPr>
          <p:cNvPr id="171" name="Google Shape;171;p4"/>
          <p:cNvSpPr/>
          <p:nvPr/>
        </p:nvSpPr>
        <p:spPr>
          <a:xfrm>
            <a:off x="4334256" y="3374135"/>
            <a:ext cx="2560320" cy="393192"/>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4"/>
          <p:cNvSpPr txBox="1"/>
          <p:nvPr/>
        </p:nvSpPr>
        <p:spPr>
          <a:xfrm>
            <a:off x="4370832" y="3419855"/>
            <a:ext cx="2487168" cy="2743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0" i="0" lang="en-US" sz="1500" u="none" cap="none" strike="noStrike">
                <a:solidFill>
                  <a:srgbClr val="28303C"/>
                </a:solidFill>
                <a:latin typeface="Arial"/>
                <a:ea typeface="Arial"/>
                <a:cs typeface="Arial"/>
                <a:sym typeface="Arial"/>
              </a:rPr>
              <a:t>135</a:t>
            </a:r>
            <a:endParaRPr/>
          </a:p>
        </p:txBody>
      </p:sp>
      <p:sp>
        <p:nvSpPr>
          <p:cNvPr id="173" name="Google Shape;173;p4"/>
          <p:cNvSpPr/>
          <p:nvPr/>
        </p:nvSpPr>
        <p:spPr>
          <a:xfrm>
            <a:off x="7022592" y="3374135"/>
            <a:ext cx="2743200" cy="393192"/>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4"/>
          <p:cNvSpPr txBox="1"/>
          <p:nvPr/>
        </p:nvSpPr>
        <p:spPr>
          <a:xfrm>
            <a:off x="7059168" y="3419855"/>
            <a:ext cx="2670048" cy="2743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1500" u="none" cap="none" strike="noStrike">
                <a:solidFill>
                  <a:srgbClr val="22918C"/>
                </a:solidFill>
                <a:latin typeface="Arial"/>
                <a:ea typeface="Arial"/>
                <a:cs typeface="Arial"/>
                <a:sym typeface="Arial"/>
              </a:rPr>
              <a:t>250</a:t>
            </a:r>
            <a:endParaRPr/>
          </a:p>
        </p:txBody>
      </p:sp>
      <p:sp>
        <p:nvSpPr>
          <p:cNvPr id="175" name="Google Shape;175;p4"/>
          <p:cNvSpPr/>
          <p:nvPr/>
        </p:nvSpPr>
        <p:spPr>
          <a:xfrm>
            <a:off x="1234440" y="3904487"/>
            <a:ext cx="2971800" cy="393192"/>
          </a:xfrm>
          <a:prstGeom prst="roundRect">
            <a:avLst>
              <a:gd fmla="val 16667" name="adj"/>
            </a:avLst>
          </a:prstGeom>
          <a:solidFill>
            <a:srgbClr val="F8FAFD"/>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p4"/>
          <p:cNvSpPr txBox="1"/>
          <p:nvPr/>
        </p:nvSpPr>
        <p:spPr>
          <a:xfrm>
            <a:off x="1271016" y="3950207"/>
            <a:ext cx="2898648" cy="2743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0" i="0" lang="en-US" sz="1500" u="none" cap="none" strike="noStrike">
                <a:solidFill>
                  <a:srgbClr val="28303C"/>
                </a:solidFill>
                <a:latin typeface="Arial"/>
                <a:ea typeface="Arial"/>
                <a:cs typeface="Arial"/>
                <a:sym typeface="Arial"/>
              </a:rPr>
              <a:t>85 + 90</a:t>
            </a:r>
            <a:endParaRPr/>
          </a:p>
        </p:txBody>
      </p:sp>
      <p:sp>
        <p:nvSpPr>
          <p:cNvPr id="177" name="Google Shape;177;p4"/>
          <p:cNvSpPr/>
          <p:nvPr/>
        </p:nvSpPr>
        <p:spPr>
          <a:xfrm>
            <a:off x="4334256" y="3904487"/>
            <a:ext cx="2560320" cy="393192"/>
          </a:xfrm>
          <a:prstGeom prst="roundRect">
            <a:avLst>
              <a:gd fmla="val 16667" name="adj"/>
            </a:avLst>
          </a:prstGeom>
          <a:solidFill>
            <a:srgbClr val="F8FAFD"/>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4"/>
          <p:cNvSpPr txBox="1"/>
          <p:nvPr/>
        </p:nvSpPr>
        <p:spPr>
          <a:xfrm>
            <a:off x="4370832" y="3950207"/>
            <a:ext cx="2487168" cy="2743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0" i="0" lang="en-US" sz="1500" u="none" cap="none" strike="noStrike">
                <a:solidFill>
                  <a:srgbClr val="28303C"/>
                </a:solidFill>
                <a:latin typeface="Arial"/>
                <a:ea typeface="Arial"/>
                <a:cs typeface="Arial"/>
                <a:sym typeface="Arial"/>
              </a:rPr>
              <a:t>175</a:t>
            </a:r>
            <a:endParaRPr/>
          </a:p>
        </p:txBody>
      </p:sp>
      <p:sp>
        <p:nvSpPr>
          <p:cNvPr id="179" name="Google Shape;179;p4"/>
          <p:cNvSpPr/>
          <p:nvPr/>
        </p:nvSpPr>
        <p:spPr>
          <a:xfrm>
            <a:off x="7022592" y="3904487"/>
            <a:ext cx="2743200" cy="393192"/>
          </a:xfrm>
          <a:prstGeom prst="roundRect">
            <a:avLst>
              <a:gd fmla="val 16667" name="adj"/>
            </a:avLst>
          </a:prstGeom>
          <a:solidFill>
            <a:srgbClr val="F8FAFD"/>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 name="Google Shape;180;p4"/>
          <p:cNvSpPr txBox="1"/>
          <p:nvPr/>
        </p:nvSpPr>
        <p:spPr>
          <a:xfrm>
            <a:off x="7059168" y="3950207"/>
            <a:ext cx="2670048" cy="2743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1500" u="none" cap="none" strike="noStrike">
                <a:solidFill>
                  <a:srgbClr val="22918C"/>
                </a:solidFill>
                <a:latin typeface="Arial"/>
                <a:ea typeface="Arial"/>
                <a:cs typeface="Arial"/>
                <a:sym typeface="Arial"/>
              </a:rPr>
              <a:t>425</a:t>
            </a:r>
            <a:endParaRPr/>
          </a:p>
        </p:txBody>
      </p:sp>
      <p:sp>
        <p:nvSpPr>
          <p:cNvPr id="181" name="Google Shape;181;p4"/>
          <p:cNvSpPr/>
          <p:nvPr/>
        </p:nvSpPr>
        <p:spPr>
          <a:xfrm>
            <a:off x="1234440" y="4434840"/>
            <a:ext cx="2971800" cy="393192"/>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2" name="Google Shape;182;p4"/>
          <p:cNvSpPr txBox="1"/>
          <p:nvPr/>
        </p:nvSpPr>
        <p:spPr>
          <a:xfrm>
            <a:off x="1271016" y="4480559"/>
            <a:ext cx="2898648" cy="2743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0" i="0" lang="en-US" sz="1500" u="none" cap="none" strike="noStrike">
                <a:solidFill>
                  <a:srgbClr val="28303C"/>
                </a:solidFill>
                <a:latin typeface="Arial"/>
                <a:ea typeface="Arial"/>
                <a:cs typeface="Arial"/>
                <a:sym typeface="Arial"/>
              </a:rPr>
              <a:t>135 + 175</a:t>
            </a:r>
            <a:endParaRPr/>
          </a:p>
        </p:txBody>
      </p:sp>
      <p:sp>
        <p:nvSpPr>
          <p:cNvPr id="183" name="Google Shape;183;p4"/>
          <p:cNvSpPr/>
          <p:nvPr/>
        </p:nvSpPr>
        <p:spPr>
          <a:xfrm>
            <a:off x="4334256" y="4434840"/>
            <a:ext cx="2560320" cy="393192"/>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4" name="Google Shape;184;p4"/>
          <p:cNvSpPr txBox="1"/>
          <p:nvPr/>
        </p:nvSpPr>
        <p:spPr>
          <a:xfrm>
            <a:off x="4370832" y="4480559"/>
            <a:ext cx="2487168" cy="2743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0" i="0" lang="en-US" sz="1500" u="none" cap="none" strike="noStrike">
                <a:solidFill>
                  <a:srgbClr val="28303C"/>
                </a:solidFill>
                <a:latin typeface="Arial"/>
                <a:ea typeface="Arial"/>
                <a:cs typeface="Arial"/>
                <a:sym typeface="Arial"/>
              </a:rPr>
              <a:t>310</a:t>
            </a:r>
            <a:endParaRPr/>
          </a:p>
        </p:txBody>
      </p:sp>
      <p:sp>
        <p:nvSpPr>
          <p:cNvPr id="185" name="Google Shape;185;p4"/>
          <p:cNvSpPr/>
          <p:nvPr/>
        </p:nvSpPr>
        <p:spPr>
          <a:xfrm>
            <a:off x="7022592" y="4434840"/>
            <a:ext cx="2743200" cy="393192"/>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4"/>
          <p:cNvSpPr txBox="1"/>
          <p:nvPr/>
        </p:nvSpPr>
        <p:spPr>
          <a:xfrm>
            <a:off x="7059168" y="4480559"/>
            <a:ext cx="2670048" cy="2743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1500" u="none" cap="none" strike="noStrike">
                <a:solidFill>
                  <a:srgbClr val="22918C"/>
                </a:solidFill>
                <a:latin typeface="Arial"/>
                <a:ea typeface="Arial"/>
                <a:cs typeface="Arial"/>
                <a:sym typeface="Arial"/>
              </a:rPr>
              <a:t>735</a:t>
            </a:r>
            <a:endParaRPr/>
          </a:p>
        </p:txBody>
      </p:sp>
      <p:sp>
        <p:nvSpPr>
          <p:cNvPr id="187" name="Google Shape;187;p4"/>
          <p:cNvSpPr txBox="1"/>
          <p:nvPr/>
        </p:nvSpPr>
        <p:spPr>
          <a:xfrm>
            <a:off x="914400" y="5257800"/>
            <a:ext cx="10332720" cy="50292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2100" u="none" cap="none" strike="noStrike">
                <a:solidFill>
                  <a:srgbClr val="182746"/>
                </a:solidFill>
                <a:latin typeface="Arial"/>
                <a:ea typeface="Arial"/>
                <a:cs typeface="Arial"/>
                <a:sym typeface="Arial"/>
              </a:rPr>
              <a:t>Total cost = 40 + 75 + 135 + 175 + 310 = 735</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 name="Shape 192"/>
        <p:cNvGrpSpPr/>
        <p:nvPr/>
      </p:nvGrpSpPr>
      <p:grpSpPr>
        <a:xfrm>
          <a:off x="0" y="0"/>
          <a:ext cx="0" cy="0"/>
          <a:chOff x="0" y="0"/>
          <a:chExt cx="0" cy="0"/>
        </a:xfrm>
      </p:grpSpPr>
      <p:sp>
        <p:nvSpPr>
          <p:cNvPr id="193" name="Google Shape;193;p5"/>
          <p:cNvSpPr txBox="1"/>
          <p:nvPr/>
        </p:nvSpPr>
        <p:spPr>
          <a:xfrm>
            <a:off x="594360" y="292608"/>
            <a:ext cx="10972800" cy="50292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2700" u="none" cap="none" strike="noStrike">
                <a:solidFill>
                  <a:srgbClr val="182746"/>
                </a:solidFill>
                <a:latin typeface="Arial"/>
                <a:ea typeface="Arial"/>
                <a:cs typeface="Arial"/>
                <a:sym typeface="Arial"/>
              </a:rPr>
              <a:t>4. Why use a min-heap?</a:t>
            </a:r>
            <a:endParaRPr/>
          </a:p>
        </p:txBody>
      </p:sp>
      <p:sp>
        <p:nvSpPr>
          <p:cNvPr id="194" name="Google Shape;194;p5"/>
          <p:cNvSpPr/>
          <p:nvPr/>
        </p:nvSpPr>
        <p:spPr>
          <a:xfrm>
            <a:off x="621792" y="914400"/>
            <a:ext cx="1005840" cy="59436"/>
          </a:xfrm>
          <a:prstGeom prst="rect">
            <a:avLst/>
          </a:prstGeom>
          <a:solidFill>
            <a:srgbClr val="229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5"/>
          <p:cNvSpPr txBox="1"/>
          <p:nvPr/>
        </p:nvSpPr>
        <p:spPr>
          <a:xfrm>
            <a:off x="621792" y="1024128"/>
            <a:ext cx="10789920" cy="36576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300" u="none" cap="none" strike="noStrike">
                <a:solidFill>
                  <a:srgbClr val="5F6976"/>
                </a:solidFill>
                <a:latin typeface="Arial"/>
                <a:ea typeface="Arial"/>
                <a:cs typeface="Arial"/>
                <a:sym typeface="Arial"/>
              </a:rPr>
              <a:t>The greedy rule is the same; finding the two minimums is different.</a:t>
            </a:r>
            <a:endParaRPr/>
          </a:p>
        </p:txBody>
      </p:sp>
      <p:sp>
        <p:nvSpPr>
          <p:cNvPr id="196" name="Google Shape;196;p5"/>
          <p:cNvSpPr txBox="1"/>
          <p:nvPr/>
        </p:nvSpPr>
        <p:spPr>
          <a:xfrm>
            <a:off x="11201400" y="6473952"/>
            <a:ext cx="411480" cy="182880"/>
          </a:xfrm>
          <a:prstGeom prst="rect">
            <a:avLst/>
          </a:prstGeom>
          <a:noFill/>
          <a:ln>
            <a:noFill/>
          </a:ln>
        </p:spPr>
        <p:txBody>
          <a:bodyPr anchorCtr="0" anchor="t" bIns="54850" lIns="54850" spcFirstLastPara="1" rIns="54850" wrap="square" tIns="54850">
            <a:spAutoFit/>
          </a:bodyPr>
          <a:lstStyle/>
          <a:p>
            <a:pPr indent="0" lvl="0" marL="0" marR="0" rtl="0" algn="r">
              <a:spcBef>
                <a:spcPts val="0"/>
              </a:spcBef>
              <a:spcAft>
                <a:spcPts val="0"/>
              </a:spcAft>
              <a:buNone/>
            </a:pPr>
            <a:r>
              <a:rPr b="0" i="0" lang="en-US" sz="1000" u="none" cap="none" strike="noStrike">
                <a:solidFill>
                  <a:srgbClr val="5F6976"/>
                </a:solidFill>
                <a:latin typeface="Arial"/>
                <a:ea typeface="Arial"/>
                <a:cs typeface="Arial"/>
                <a:sym typeface="Arial"/>
              </a:rPr>
              <a:t>5</a:t>
            </a:r>
            <a:endParaRPr/>
          </a:p>
        </p:txBody>
      </p:sp>
      <p:sp>
        <p:nvSpPr>
          <p:cNvPr id="197" name="Google Shape;197;p5"/>
          <p:cNvSpPr/>
          <p:nvPr/>
        </p:nvSpPr>
        <p:spPr>
          <a:xfrm>
            <a:off x="822960" y="1783080"/>
            <a:ext cx="4937760" cy="1965960"/>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8" name="Google Shape;198;p5"/>
          <p:cNvSpPr txBox="1"/>
          <p:nvPr/>
        </p:nvSpPr>
        <p:spPr>
          <a:xfrm>
            <a:off x="987552" y="1911095"/>
            <a:ext cx="4608576" cy="347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1700" u="none" cap="none" strike="noStrike">
                <a:solidFill>
                  <a:srgbClr val="3767B0"/>
                </a:solidFill>
                <a:latin typeface="Arial"/>
                <a:ea typeface="Arial"/>
                <a:cs typeface="Arial"/>
                <a:sym typeface="Arial"/>
              </a:rPr>
              <a:t>Baseline: repeated scan</a:t>
            </a:r>
            <a:endParaRPr/>
          </a:p>
        </p:txBody>
      </p:sp>
      <p:sp>
        <p:nvSpPr>
          <p:cNvPr id="199" name="Google Shape;199;p5"/>
          <p:cNvSpPr txBox="1"/>
          <p:nvPr/>
        </p:nvSpPr>
        <p:spPr>
          <a:xfrm>
            <a:off x="987552" y="2350008"/>
            <a:ext cx="4608576" cy="130759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500" u="none" cap="none" strike="noStrike">
                <a:solidFill>
                  <a:srgbClr val="28303C"/>
                </a:solidFill>
                <a:latin typeface="Arial"/>
                <a:ea typeface="Arial"/>
                <a:cs typeface="Arial"/>
                <a:sym typeface="Arial"/>
              </a:rPr>
              <a:t>Each round scans the remaining list to find the two smallest files, then merges them.</a:t>
            </a:r>
            <a:endParaRPr/>
          </a:p>
        </p:txBody>
      </p:sp>
      <p:sp>
        <p:nvSpPr>
          <p:cNvPr id="200" name="Google Shape;200;p5"/>
          <p:cNvSpPr txBox="1"/>
          <p:nvPr/>
        </p:nvSpPr>
        <p:spPr>
          <a:xfrm>
            <a:off x="1005840" y="3840480"/>
            <a:ext cx="4572000" cy="59436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2900" u="none" cap="none" strike="noStrike">
                <a:solidFill>
                  <a:srgbClr val="3767B0"/>
                </a:solidFill>
                <a:latin typeface="Arial"/>
                <a:ea typeface="Arial"/>
                <a:cs typeface="Arial"/>
                <a:sym typeface="Arial"/>
              </a:rPr>
              <a:t>Θ(N²)</a:t>
            </a:r>
            <a:endParaRPr/>
          </a:p>
        </p:txBody>
      </p:sp>
      <p:sp>
        <p:nvSpPr>
          <p:cNvPr id="201" name="Google Shape;201;p5"/>
          <p:cNvSpPr/>
          <p:nvPr/>
        </p:nvSpPr>
        <p:spPr>
          <a:xfrm>
            <a:off x="6400800" y="1783080"/>
            <a:ext cx="4937760" cy="1965960"/>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2" name="Google Shape;202;p5"/>
          <p:cNvSpPr txBox="1"/>
          <p:nvPr/>
        </p:nvSpPr>
        <p:spPr>
          <a:xfrm>
            <a:off x="6565392" y="1911095"/>
            <a:ext cx="4608576" cy="347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1700" u="none" cap="none" strike="noStrike">
                <a:solidFill>
                  <a:srgbClr val="22918C"/>
                </a:solidFill>
                <a:latin typeface="Arial"/>
                <a:ea typeface="Arial"/>
                <a:cs typeface="Arial"/>
                <a:sym typeface="Arial"/>
              </a:rPr>
              <a:t>Min-heap implementation</a:t>
            </a:r>
            <a:endParaRPr/>
          </a:p>
        </p:txBody>
      </p:sp>
      <p:sp>
        <p:nvSpPr>
          <p:cNvPr id="203" name="Google Shape;203;p5"/>
          <p:cNvSpPr txBox="1"/>
          <p:nvPr/>
        </p:nvSpPr>
        <p:spPr>
          <a:xfrm>
            <a:off x="6565392" y="2350008"/>
            <a:ext cx="4608576" cy="130759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500" u="none" cap="none" strike="noStrike">
                <a:solidFill>
                  <a:srgbClr val="28303C"/>
                </a:solidFill>
                <a:latin typeface="Arial"/>
                <a:ea typeface="Arial"/>
                <a:cs typeface="Arial"/>
                <a:sym typeface="Arial"/>
              </a:rPr>
              <a:t>Each push/pop takes O(log N). Each round uses two pops and one push.</a:t>
            </a:r>
            <a:endParaRPr/>
          </a:p>
        </p:txBody>
      </p:sp>
      <p:sp>
        <p:nvSpPr>
          <p:cNvPr id="204" name="Google Shape;204;p5"/>
          <p:cNvSpPr txBox="1"/>
          <p:nvPr/>
        </p:nvSpPr>
        <p:spPr>
          <a:xfrm>
            <a:off x="6583680" y="3840480"/>
            <a:ext cx="4572000" cy="59436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2900" u="none" cap="none" strike="noStrike">
                <a:solidFill>
                  <a:srgbClr val="22918C"/>
                </a:solidFill>
                <a:latin typeface="Arial"/>
                <a:ea typeface="Arial"/>
                <a:cs typeface="Arial"/>
                <a:sym typeface="Arial"/>
              </a:rPr>
              <a:t>Θ(N log N)</a:t>
            </a:r>
            <a:endParaRPr/>
          </a:p>
        </p:txBody>
      </p:sp>
      <p:sp>
        <p:nvSpPr>
          <p:cNvPr id="205" name="Google Shape;205;p5"/>
          <p:cNvSpPr txBox="1"/>
          <p:nvPr/>
        </p:nvSpPr>
        <p:spPr>
          <a:xfrm>
            <a:off x="914400" y="5074920"/>
            <a:ext cx="10332720" cy="59436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1700" u="none" cap="none" strike="noStrike">
                <a:solidFill>
                  <a:srgbClr val="182746"/>
                </a:solidFill>
                <a:latin typeface="Arial"/>
                <a:ea typeface="Arial"/>
                <a:cs typeface="Arial"/>
                <a:sym typeface="Arial"/>
              </a:rPr>
              <a:t>There are N − 1 merges. Replacing repeated linear scans with heap operations improves scaling.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 name="Shape 210"/>
        <p:cNvGrpSpPr/>
        <p:nvPr/>
      </p:nvGrpSpPr>
      <p:grpSpPr>
        <a:xfrm>
          <a:off x="0" y="0"/>
          <a:ext cx="0" cy="0"/>
          <a:chOff x="0" y="0"/>
          <a:chExt cx="0" cy="0"/>
        </a:xfrm>
      </p:grpSpPr>
      <p:sp>
        <p:nvSpPr>
          <p:cNvPr id="211" name="Google Shape;211;p6"/>
          <p:cNvSpPr txBox="1"/>
          <p:nvPr/>
        </p:nvSpPr>
        <p:spPr>
          <a:xfrm>
            <a:off x="594360" y="292608"/>
            <a:ext cx="10972800" cy="50292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2700" u="none" cap="none" strike="noStrike">
                <a:solidFill>
                  <a:srgbClr val="182746"/>
                </a:solidFill>
                <a:latin typeface="Arial"/>
                <a:ea typeface="Arial"/>
                <a:cs typeface="Arial"/>
                <a:sym typeface="Arial"/>
              </a:rPr>
              <a:t>5. How we checked correctness</a:t>
            </a:r>
            <a:endParaRPr/>
          </a:p>
        </p:txBody>
      </p:sp>
      <p:sp>
        <p:nvSpPr>
          <p:cNvPr id="212" name="Google Shape;212;p6"/>
          <p:cNvSpPr/>
          <p:nvPr/>
        </p:nvSpPr>
        <p:spPr>
          <a:xfrm>
            <a:off x="621792" y="914400"/>
            <a:ext cx="1005840" cy="59436"/>
          </a:xfrm>
          <a:prstGeom prst="rect">
            <a:avLst/>
          </a:prstGeom>
          <a:solidFill>
            <a:srgbClr val="229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6"/>
          <p:cNvSpPr txBox="1"/>
          <p:nvPr/>
        </p:nvSpPr>
        <p:spPr>
          <a:xfrm>
            <a:off x="621792" y="1024128"/>
            <a:ext cx="10789920" cy="36576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300" u="none" cap="none" strike="noStrike">
                <a:solidFill>
                  <a:srgbClr val="5F6976"/>
                </a:solidFill>
                <a:latin typeface="Arial"/>
                <a:ea typeface="Arial"/>
                <a:cs typeface="Arial"/>
                <a:sym typeface="Arial"/>
              </a:rPr>
              <a:t>pytest tests the returned costs; benchmarking measures speed.</a:t>
            </a:r>
            <a:endParaRPr/>
          </a:p>
        </p:txBody>
      </p:sp>
      <p:sp>
        <p:nvSpPr>
          <p:cNvPr id="214" name="Google Shape;214;p6"/>
          <p:cNvSpPr txBox="1"/>
          <p:nvPr/>
        </p:nvSpPr>
        <p:spPr>
          <a:xfrm>
            <a:off x="11201400" y="6473952"/>
            <a:ext cx="411480" cy="182880"/>
          </a:xfrm>
          <a:prstGeom prst="rect">
            <a:avLst/>
          </a:prstGeom>
          <a:noFill/>
          <a:ln>
            <a:noFill/>
          </a:ln>
        </p:spPr>
        <p:txBody>
          <a:bodyPr anchorCtr="0" anchor="t" bIns="54850" lIns="54850" spcFirstLastPara="1" rIns="54850" wrap="square" tIns="54850">
            <a:spAutoFit/>
          </a:bodyPr>
          <a:lstStyle/>
          <a:p>
            <a:pPr indent="0" lvl="0" marL="0" marR="0" rtl="0" algn="r">
              <a:spcBef>
                <a:spcPts val="0"/>
              </a:spcBef>
              <a:spcAft>
                <a:spcPts val="0"/>
              </a:spcAft>
              <a:buNone/>
            </a:pPr>
            <a:r>
              <a:rPr b="0" i="0" lang="en-US" sz="1000" u="none" cap="none" strike="noStrike">
                <a:solidFill>
                  <a:srgbClr val="5F6976"/>
                </a:solidFill>
                <a:latin typeface="Arial"/>
                <a:ea typeface="Arial"/>
                <a:cs typeface="Arial"/>
                <a:sym typeface="Arial"/>
              </a:rPr>
              <a:t>6</a:t>
            </a:r>
            <a:endParaRPr/>
          </a:p>
        </p:txBody>
      </p:sp>
      <p:sp>
        <p:nvSpPr>
          <p:cNvPr id="215" name="Google Shape;215;p6"/>
          <p:cNvSpPr/>
          <p:nvPr/>
        </p:nvSpPr>
        <p:spPr>
          <a:xfrm>
            <a:off x="731520" y="1828800"/>
            <a:ext cx="3429000" cy="2148840"/>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6" name="Google Shape;216;p6"/>
          <p:cNvSpPr txBox="1"/>
          <p:nvPr/>
        </p:nvSpPr>
        <p:spPr>
          <a:xfrm>
            <a:off x="896112" y="1956816"/>
            <a:ext cx="3099816" cy="347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1700" u="none" cap="none" strike="noStrike">
                <a:solidFill>
                  <a:srgbClr val="3767B0"/>
                </a:solidFill>
                <a:latin typeface="Arial"/>
                <a:ea typeface="Arial"/>
                <a:cs typeface="Arial"/>
                <a:sym typeface="Arial"/>
              </a:rPr>
              <a:t>Baseline test</a:t>
            </a:r>
            <a:endParaRPr/>
          </a:p>
        </p:txBody>
      </p:sp>
      <p:sp>
        <p:nvSpPr>
          <p:cNvPr id="217" name="Google Shape;217;p6"/>
          <p:cNvSpPr txBox="1"/>
          <p:nvPr/>
        </p:nvSpPr>
        <p:spPr>
          <a:xfrm>
            <a:off x="896112" y="2395728"/>
            <a:ext cx="3099816" cy="1490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500" u="none" cap="none" strike="noStrike">
                <a:solidFill>
                  <a:srgbClr val="28303C"/>
                </a:solidFill>
                <a:latin typeface="Arial"/>
                <a:ea typeface="Arial"/>
                <a:cs typeface="Arial"/>
                <a:sym typeface="Arial"/>
              </a:rPr>
              <a:t>Checks a fixed seeded 10-file input returns 9945.</a:t>
            </a:r>
            <a:endParaRPr/>
          </a:p>
        </p:txBody>
      </p:sp>
      <p:sp>
        <p:nvSpPr>
          <p:cNvPr id="218" name="Google Shape;218;p6"/>
          <p:cNvSpPr/>
          <p:nvPr/>
        </p:nvSpPr>
        <p:spPr>
          <a:xfrm>
            <a:off x="4389120" y="1828800"/>
            <a:ext cx="3429000" cy="2148840"/>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6"/>
          <p:cNvSpPr txBox="1"/>
          <p:nvPr/>
        </p:nvSpPr>
        <p:spPr>
          <a:xfrm>
            <a:off x="4553712" y="1956816"/>
            <a:ext cx="3099816" cy="347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1700" u="none" cap="none" strike="noStrike">
                <a:solidFill>
                  <a:srgbClr val="22918C"/>
                </a:solidFill>
                <a:latin typeface="Arial"/>
                <a:ea typeface="Arial"/>
                <a:cs typeface="Arial"/>
                <a:sym typeface="Arial"/>
              </a:rPr>
              <a:t>Heap test</a:t>
            </a:r>
            <a:endParaRPr/>
          </a:p>
        </p:txBody>
      </p:sp>
      <p:sp>
        <p:nvSpPr>
          <p:cNvPr id="220" name="Google Shape;220;p6"/>
          <p:cNvSpPr txBox="1"/>
          <p:nvPr/>
        </p:nvSpPr>
        <p:spPr>
          <a:xfrm>
            <a:off x="4553712" y="2395728"/>
            <a:ext cx="3099816" cy="1490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500" u="none" cap="none" strike="noStrike">
                <a:solidFill>
                  <a:srgbClr val="28303C"/>
                </a:solidFill>
                <a:latin typeface="Arial"/>
                <a:ea typeface="Arial"/>
                <a:cs typeface="Arial"/>
                <a:sym typeface="Arial"/>
              </a:rPr>
              <a:t>Checks the heap implementation returns 9945 for the same seeded input.</a:t>
            </a:r>
            <a:endParaRPr/>
          </a:p>
        </p:txBody>
      </p:sp>
      <p:sp>
        <p:nvSpPr>
          <p:cNvPr id="221" name="Google Shape;221;p6"/>
          <p:cNvSpPr/>
          <p:nvPr/>
        </p:nvSpPr>
        <p:spPr>
          <a:xfrm>
            <a:off x="8046720" y="1828800"/>
            <a:ext cx="3429000" cy="2148840"/>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6"/>
          <p:cNvSpPr txBox="1"/>
          <p:nvPr/>
        </p:nvSpPr>
        <p:spPr>
          <a:xfrm>
            <a:off x="8211312" y="1956816"/>
            <a:ext cx="3099816" cy="347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1700" u="none" cap="none" strike="noStrike">
                <a:solidFill>
                  <a:srgbClr val="E69138"/>
                </a:solidFill>
                <a:latin typeface="Arial"/>
                <a:ea typeface="Arial"/>
                <a:cs typeface="Arial"/>
                <a:sym typeface="Arial"/>
              </a:rPr>
              <a:t>Agreement test</a:t>
            </a:r>
            <a:endParaRPr/>
          </a:p>
        </p:txBody>
      </p:sp>
      <p:sp>
        <p:nvSpPr>
          <p:cNvPr id="223" name="Google Shape;223;p6"/>
          <p:cNvSpPr txBox="1"/>
          <p:nvPr/>
        </p:nvSpPr>
        <p:spPr>
          <a:xfrm>
            <a:off x="8211312" y="2395728"/>
            <a:ext cx="3099816" cy="1490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500" u="none" cap="none" strike="noStrike">
                <a:solidFill>
                  <a:srgbClr val="28303C"/>
                </a:solidFill>
                <a:latin typeface="Arial"/>
                <a:ea typeface="Arial"/>
                <a:cs typeface="Arial"/>
                <a:sym typeface="Arial"/>
              </a:rPr>
              <a:t>Checks both algorithms return the same cost on the same input.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8" name="Shape 228"/>
        <p:cNvGrpSpPr/>
        <p:nvPr/>
      </p:nvGrpSpPr>
      <p:grpSpPr>
        <a:xfrm>
          <a:off x="0" y="0"/>
          <a:ext cx="0" cy="0"/>
          <a:chOff x="0" y="0"/>
          <a:chExt cx="0" cy="0"/>
        </a:xfrm>
      </p:grpSpPr>
      <p:sp>
        <p:nvSpPr>
          <p:cNvPr id="229" name="Google Shape;229;p7"/>
          <p:cNvSpPr txBox="1"/>
          <p:nvPr/>
        </p:nvSpPr>
        <p:spPr>
          <a:xfrm>
            <a:off x="594360" y="292608"/>
            <a:ext cx="10972800" cy="50292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2700" u="none" cap="none" strike="noStrike">
                <a:solidFill>
                  <a:srgbClr val="182746"/>
                </a:solidFill>
                <a:latin typeface="Arial"/>
                <a:ea typeface="Arial"/>
                <a:cs typeface="Arial"/>
                <a:sym typeface="Arial"/>
              </a:rPr>
              <a:t>6. Benchmarking design</a:t>
            </a:r>
            <a:endParaRPr/>
          </a:p>
        </p:txBody>
      </p:sp>
      <p:sp>
        <p:nvSpPr>
          <p:cNvPr id="230" name="Google Shape;230;p7"/>
          <p:cNvSpPr/>
          <p:nvPr/>
        </p:nvSpPr>
        <p:spPr>
          <a:xfrm>
            <a:off x="621792" y="914400"/>
            <a:ext cx="1005840" cy="59436"/>
          </a:xfrm>
          <a:prstGeom prst="rect">
            <a:avLst/>
          </a:prstGeom>
          <a:solidFill>
            <a:srgbClr val="229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1" name="Google Shape;231;p7"/>
          <p:cNvSpPr txBox="1"/>
          <p:nvPr/>
        </p:nvSpPr>
        <p:spPr>
          <a:xfrm>
            <a:off x="621792" y="1024128"/>
            <a:ext cx="10789920" cy="36576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300" u="none" cap="none" strike="noStrike">
                <a:solidFill>
                  <a:srgbClr val="5F6976"/>
                </a:solidFill>
                <a:latin typeface="Arial"/>
                <a:ea typeface="Arial"/>
                <a:cs typeface="Arial"/>
                <a:sym typeface="Arial"/>
              </a:rPr>
              <a:t>We timed both approaches on random lists of increasing size.</a:t>
            </a:r>
            <a:endParaRPr/>
          </a:p>
        </p:txBody>
      </p:sp>
      <p:sp>
        <p:nvSpPr>
          <p:cNvPr id="232" name="Google Shape;232;p7"/>
          <p:cNvSpPr txBox="1"/>
          <p:nvPr/>
        </p:nvSpPr>
        <p:spPr>
          <a:xfrm>
            <a:off x="11201400" y="6473952"/>
            <a:ext cx="411480" cy="182880"/>
          </a:xfrm>
          <a:prstGeom prst="rect">
            <a:avLst/>
          </a:prstGeom>
          <a:noFill/>
          <a:ln>
            <a:noFill/>
          </a:ln>
        </p:spPr>
        <p:txBody>
          <a:bodyPr anchorCtr="0" anchor="t" bIns="54850" lIns="54850" spcFirstLastPara="1" rIns="54850" wrap="square" tIns="54850">
            <a:spAutoFit/>
          </a:bodyPr>
          <a:lstStyle/>
          <a:p>
            <a:pPr indent="0" lvl="0" marL="0" marR="0" rtl="0" algn="r">
              <a:spcBef>
                <a:spcPts val="0"/>
              </a:spcBef>
              <a:spcAft>
                <a:spcPts val="0"/>
              </a:spcAft>
              <a:buNone/>
            </a:pPr>
            <a:r>
              <a:rPr b="0" i="0" lang="en-US" sz="1000" u="none" cap="none" strike="noStrike">
                <a:solidFill>
                  <a:srgbClr val="5F6976"/>
                </a:solidFill>
                <a:latin typeface="Arial"/>
                <a:ea typeface="Arial"/>
                <a:cs typeface="Arial"/>
                <a:sym typeface="Arial"/>
              </a:rPr>
              <a:t>7</a:t>
            </a:r>
            <a:endParaRPr/>
          </a:p>
        </p:txBody>
      </p:sp>
      <p:sp>
        <p:nvSpPr>
          <p:cNvPr id="233" name="Google Shape;233;p7"/>
          <p:cNvSpPr/>
          <p:nvPr/>
        </p:nvSpPr>
        <p:spPr>
          <a:xfrm>
            <a:off x="777240" y="1828800"/>
            <a:ext cx="3429000" cy="2011680"/>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4" name="Google Shape;234;p7"/>
          <p:cNvSpPr txBox="1"/>
          <p:nvPr/>
        </p:nvSpPr>
        <p:spPr>
          <a:xfrm>
            <a:off x="941832" y="1956816"/>
            <a:ext cx="3099816" cy="347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1700" u="none" cap="none" strike="noStrike">
                <a:solidFill>
                  <a:srgbClr val="3767B0"/>
                </a:solidFill>
                <a:latin typeface="Arial"/>
                <a:ea typeface="Arial"/>
                <a:cs typeface="Arial"/>
                <a:sym typeface="Arial"/>
              </a:rPr>
              <a:t>Input sizes</a:t>
            </a:r>
            <a:endParaRPr/>
          </a:p>
        </p:txBody>
      </p:sp>
      <p:sp>
        <p:nvSpPr>
          <p:cNvPr id="235" name="Google Shape;235;p7"/>
          <p:cNvSpPr txBox="1"/>
          <p:nvPr/>
        </p:nvSpPr>
        <p:spPr>
          <a:xfrm>
            <a:off x="941832" y="2395728"/>
            <a:ext cx="3099816" cy="135331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500" u="none" cap="none" strike="noStrike">
                <a:solidFill>
                  <a:srgbClr val="28303C"/>
                </a:solidFill>
                <a:latin typeface="Arial"/>
                <a:ea typeface="Arial"/>
                <a:cs typeface="Arial"/>
                <a:sym typeface="Arial"/>
              </a:rPr>
              <a:t>100 to 6,400 files, doubling each step.</a:t>
            </a:r>
            <a:endParaRPr/>
          </a:p>
        </p:txBody>
      </p:sp>
      <p:sp>
        <p:nvSpPr>
          <p:cNvPr id="236" name="Google Shape;236;p7"/>
          <p:cNvSpPr/>
          <p:nvPr/>
        </p:nvSpPr>
        <p:spPr>
          <a:xfrm>
            <a:off x="4389120" y="1828800"/>
            <a:ext cx="3429000" cy="2011680"/>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7" name="Google Shape;237;p7"/>
          <p:cNvSpPr txBox="1"/>
          <p:nvPr/>
        </p:nvSpPr>
        <p:spPr>
          <a:xfrm>
            <a:off x="4553712" y="1956816"/>
            <a:ext cx="3099816" cy="347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1700" u="none" cap="none" strike="noStrike">
                <a:solidFill>
                  <a:srgbClr val="22918C"/>
                </a:solidFill>
                <a:latin typeface="Arial"/>
                <a:ea typeface="Arial"/>
                <a:cs typeface="Arial"/>
                <a:sym typeface="Arial"/>
              </a:rPr>
              <a:t>Timing method</a:t>
            </a:r>
            <a:endParaRPr/>
          </a:p>
        </p:txBody>
      </p:sp>
      <p:sp>
        <p:nvSpPr>
          <p:cNvPr id="238" name="Google Shape;238;p7"/>
          <p:cNvSpPr txBox="1"/>
          <p:nvPr/>
        </p:nvSpPr>
        <p:spPr>
          <a:xfrm>
            <a:off x="4553712" y="2395728"/>
            <a:ext cx="3099816" cy="135331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500" u="none" cap="none" strike="noStrike">
                <a:solidFill>
                  <a:srgbClr val="28303C"/>
                </a:solidFill>
                <a:latin typeface="Arial"/>
                <a:ea typeface="Arial"/>
                <a:cs typeface="Arial"/>
                <a:sym typeface="Arial"/>
              </a:rPr>
              <a:t>10 runs per size; record the average runtime.</a:t>
            </a:r>
            <a:endParaRPr/>
          </a:p>
        </p:txBody>
      </p:sp>
      <p:sp>
        <p:nvSpPr>
          <p:cNvPr id="239" name="Google Shape;239;p7"/>
          <p:cNvSpPr/>
          <p:nvPr/>
        </p:nvSpPr>
        <p:spPr>
          <a:xfrm>
            <a:off x="8001000" y="1828800"/>
            <a:ext cx="3429000" cy="2011680"/>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0" name="Google Shape;240;p7"/>
          <p:cNvSpPr txBox="1"/>
          <p:nvPr/>
        </p:nvSpPr>
        <p:spPr>
          <a:xfrm>
            <a:off x="8165592" y="1956816"/>
            <a:ext cx="3099816" cy="347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1700" u="none" cap="none" strike="noStrike">
                <a:solidFill>
                  <a:srgbClr val="E69138"/>
                </a:solidFill>
                <a:latin typeface="Arial"/>
                <a:ea typeface="Arial"/>
                <a:cs typeface="Arial"/>
                <a:sym typeface="Arial"/>
              </a:rPr>
              <a:t>Charts</a:t>
            </a:r>
            <a:endParaRPr/>
          </a:p>
        </p:txBody>
      </p:sp>
      <p:sp>
        <p:nvSpPr>
          <p:cNvPr id="241" name="Google Shape;241;p7"/>
          <p:cNvSpPr txBox="1"/>
          <p:nvPr/>
        </p:nvSpPr>
        <p:spPr>
          <a:xfrm>
            <a:off x="8165592" y="2395728"/>
            <a:ext cx="3099816" cy="135331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500" u="none" cap="none" strike="noStrike">
                <a:solidFill>
                  <a:srgbClr val="28303C"/>
                </a:solidFill>
                <a:latin typeface="Arial"/>
                <a:ea typeface="Arial"/>
                <a:cs typeface="Arial"/>
                <a:sym typeface="Arial"/>
              </a:rPr>
              <a:t>Linear scale and logarithmic y-axis scale.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6" name="Shape 246"/>
        <p:cNvGrpSpPr/>
        <p:nvPr/>
      </p:nvGrpSpPr>
      <p:grpSpPr>
        <a:xfrm>
          <a:off x="0" y="0"/>
          <a:ext cx="0" cy="0"/>
          <a:chOff x="0" y="0"/>
          <a:chExt cx="0" cy="0"/>
        </a:xfrm>
      </p:grpSpPr>
      <p:sp>
        <p:nvSpPr>
          <p:cNvPr id="247" name="Google Shape;247;p8"/>
          <p:cNvSpPr/>
          <p:nvPr/>
        </p:nvSpPr>
        <p:spPr>
          <a:xfrm>
            <a:off x="914403" y="1805947"/>
            <a:ext cx="5120700" cy="2971800"/>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8" name="Google Shape;248;p8"/>
          <p:cNvSpPr txBox="1"/>
          <p:nvPr/>
        </p:nvSpPr>
        <p:spPr>
          <a:xfrm>
            <a:off x="594360" y="292608"/>
            <a:ext cx="10972800" cy="50292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2700" u="none" cap="none" strike="noStrike">
                <a:solidFill>
                  <a:srgbClr val="182746"/>
                </a:solidFill>
                <a:latin typeface="Arial"/>
                <a:ea typeface="Arial"/>
                <a:cs typeface="Arial"/>
                <a:sym typeface="Arial"/>
              </a:rPr>
              <a:t>7. Results: connect theory to evidence</a:t>
            </a:r>
            <a:endParaRPr/>
          </a:p>
        </p:txBody>
      </p:sp>
      <p:sp>
        <p:nvSpPr>
          <p:cNvPr id="249" name="Google Shape;249;p8"/>
          <p:cNvSpPr/>
          <p:nvPr/>
        </p:nvSpPr>
        <p:spPr>
          <a:xfrm>
            <a:off x="621792" y="914400"/>
            <a:ext cx="1005840" cy="59436"/>
          </a:xfrm>
          <a:prstGeom prst="rect">
            <a:avLst/>
          </a:prstGeom>
          <a:solidFill>
            <a:srgbClr val="229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8"/>
          <p:cNvSpPr txBox="1"/>
          <p:nvPr/>
        </p:nvSpPr>
        <p:spPr>
          <a:xfrm>
            <a:off x="621792" y="1024128"/>
            <a:ext cx="10789920" cy="36576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300" u="none" cap="none" strike="noStrike">
                <a:solidFill>
                  <a:srgbClr val="5F6976"/>
                </a:solidFill>
                <a:latin typeface="Arial"/>
                <a:ea typeface="Arial"/>
                <a:cs typeface="Arial"/>
                <a:sym typeface="Arial"/>
              </a:rPr>
              <a:t>Replace the placeholders with the final benchmark graphs.</a:t>
            </a:r>
            <a:endParaRPr/>
          </a:p>
        </p:txBody>
      </p:sp>
      <p:sp>
        <p:nvSpPr>
          <p:cNvPr id="251" name="Google Shape;251;p8"/>
          <p:cNvSpPr txBox="1"/>
          <p:nvPr/>
        </p:nvSpPr>
        <p:spPr>
          <a:xfrm>
            <a:off x="11201400" y="6473952"/>
            <a:ext cx="411480" cy="182880"/>
          </a:xfrm>
          <a:prstGeom prst="rect">
            <a:avLst/>
          </a:prstGeom>
          <a:noFill/>
          <a:ln>
            <a:noFill/>
          </a:ln>
        </p:spPr>
        <p:txBody>
          <a:bodyPr anchorCtr="0" anchor="t" bIns="54850" lIns="54850" spcFirstLastPara="1" rIns="54850" wrap="square" tIns="54850">
            <a:spAutoFit/>
          </a:bodyPr>
          <a:lstStyle/>
          <a:p>
            <a:pPr indent="0" lvl="0" marL="0" marR="0" rtl="0" algn="r">
              <a:spcBef>
                <a:spcPts val="0"/>
              </a:spcBef>
              <a:spcAft>
                <a:spcPts val="0"/>
              </a:spcAft>
              <a:buNone/>
            </a:pPr>
            <a:r>
              <a:rPr b="0" i="0" lang="en-US" sz="1000" u="none" cap="none" strike="noStrike">
                <a:solidFill>
                  <a:srgbClr val="5F6976"/>
                </a:solidFill>
                <a:latin typeface="Arial"/>
                <a:ea typeface="Arial"/>
                <a:cs typeface="Arial"/>
                <a:sym typeface="Arial"/>
              </a:rPr>
              <a:t>8</a:t>
            </a:r>
            <a:endParaRPr/>
          </a:p>
        </p:txBody>
      </p:sp>
      <p:sp>
        <p:nvSpPr>
          <p:cNvPr id="252" name="Google Shape;252;p8"/>
          <p:cNvSpPr txBox="1"/>
          <p:nvPr/>
        </p:nvSpPr>
        <p:spPr>
          <a:xfrm>
            <a:off x="1097245" y="1883477"/>
            <a:ext cx="4755000" cy="35700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1600" u="none" cap="none" strike="noStrike">
                <a:solidFill>
                  <a:srgbClr val="182746"/>
                </a:solidFill>
                <a:latin typeface="Arial"/>
                <a:ea typeface="Arial"/>
                <a:cs typeface="Arial"/>
                <a:sym typeface="Arial"/>
              </a:rPr>
              <a:t>Linear scale</a:t>
            </a:r>
            <a:endParaRPr/>
          </a:p>
        </p:txBody>
      </p:sp>
      <p:sp>
        <p:nvSpPr>
          <p:cNvPr id="253" name="Google Shape;253;p8"/>
          <p:cNvSpPr/>
          <p:nvPr/>
        </p:nvSpPr>
        <p:spPr>
          <a:xfrm>
            <a:off x="6446515" y="1805960"/>
            <a:ext cx="5120700" cy="2971800"/>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8"/>
          <p:cNvSpPr txBox="1"/>
          <p:nvPr/>
        </p:nvSpPr>
        <p:spPr>
          <a:xfrm>
            <a:off x="6446520" y="1901952"/>
            <a:ext cx="4754880" cy="32004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1600" u="none" cap="none" strike="noStrike">
                <a:solidFill>
                  <a:srgbClr val="182746"/>
                </a:solidFill>
                <a:latin typeface="Arial"/>
                <a:ea typeface="Arial"/>
                <a:cs typeface="Arial"/>
                <a:sym typeface="Arial"/>
              </a:rPr>
              <a:t>Logarithmic y-axis</a:t>
            </a:r>
            <a:endParaRPr/>
          </a:p>
        </p:txBody>
      </p:sp>
      <p:sp>
        <p:nvSpPr>
          <p:cNvPr id="255" name="Google Shape;255;p8"/>
          <p:cNvSpPr txBox="1"/>
          <p:nvPr/>
        </p:nvSpPr>
        <p:spPr>
          <a:xfrm>
            <a:off x="914400" y="5074920"/>
            <a:ext cx="10241280" cy="59436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1700" u="none" cap="none" strike="noStrike">
                <a:solidFill>
                  <a:srgbClr val="182746"/>
                </a:solidFill>
                <a:latin typeface="Arial"/>
                <a:ea typeface="Arial"/>
                <a:cs typeface="Arial"/>
                <a:sym typeface="Arial"/>
              </a:rPr>
              <a:t>Interpretation to test against the graphs: the baseline should grow faster; the heap should scale more slowly.</a:t>
            </a:r>
            <a:endParaRPr/>
          </a:p>
        </p:txBody>
      </p:sp>
      <p:pic>
        <p:nvPicPr>
          <p:cNvPr id="256" name="Google Shape;256;p8"/>
          <p:cNvPicPr preferRelativeResize="0"/>
          <p:nvPr/>
        </p:nvPicPr>
        <p:blipFill>
          <a:blip r:embed="rId3">
            <a:alphaModFix/>
          </a:blip>
          <a:stretch>
            <a:fillRect/>
          </a:stretch>
        </p:blipFill>
        <p:spPr>
          <a:xfrm>
            <a:off x="1511249" y="2352950"/>
            <a:ext cx="3927000" cy="2356200"/>
          </a:xfrm>
          <a:prstGeom prst="rect">
            <a:avLst/>
          </a:prstGeom>
          <a:noFill/>
          <a:ln>
            <a:noFill/>
          </a:ln>
        </p:spPr>
      </p:pic>
      <p:pic>
        <p:nvPicPr>
          <p:cNvPr id="257" name="Google Shape;257;p8"/>
          <p:cNvPicPr preferRelativeResize="0"/>
          <p:nvPr/>
        </p:nvPicPr>
        <p:blipFill>
          <a:blip r:embed="rId4">
            <a:alphaModFix/>
          </a:blip>
          <a:stretch>
            <a:fillRect/>
          </a:stretch>
        </p:blipFill>
        <p:spPr>
          <a:xfrm>
            <a:off x="6984979" y="2317912"/>
            <a:ext cx="4043783" cy="2426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2" name="Shape 262"/>
        <p:cNvGrpSpPr/>
        <p:nvPr/>
      </p:nvGrpSpPr>
      <p:grpSpPr>
        <a:xfrm>
          <a:off x="0" y="0"/>
          <a:ext cx="0" cy="0"/>
          <a:chOff x="0" y="0"/>
          <a:chExt cx="0" cy="0"/>
        </a:xfrm>
      </p:grpSpPr>
      <p:sp>
        <p:nvSpPr>
          <p:cNvPr id="263" name="Google Shape;263;p9"/>
          <p:cNvSpPr txBox="1"/>
          <p:nvPr/>
        </p:nvSpPr>
        <p:spPr>
          <a:xfrm>
            <a:off x="594360" y="292608"/>
            <a:ext cx="10972800" cy="50292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2700" u="none" cap="none" strike="noStrike">
                <a:solidFill>
                  <a:srgbClr val="182746"/>
                </a:solidFill>
                <a:latin typeface="Arial"/>
                <a:ea typeface="Arial"/>
                <a:cs typeface="Arial"/>
                <a:sym typeface="Arial"/>
              </a:rPr>
              <a:t>8. What we learned</a:t>
            </a:r>
            <a:endParaRPr/>
          </a:p>
        </p:txBody>
      </p:sp>
      <p:sp>
        <p:nvSpPr>
          <p:cNvPr id="264" name="Google Shape;264;p9"/>
          <p:cNvSpPr/>
          <p:nvPr/>
        </p:nvSpPr>
        <p:spPr>
          <a:xfrm>
            <a:off x="621792" y="914400"/>
            <a:ext cx="1005840" cy="59436"/>
          </a:xfrm>
          <a:prstGeom prst="rect">
            <a:avLst/>
          </a:prstGeom>
          <a:solidFill>
            <a:srgbClr val="229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5" name="Google Shape;265;p9"/>
          <p:cNvSpPr txBox="1"/>
          <p:nvPr/>
        </p:nvSpPr>
        <p:spPr>
          <a:xfrm>
            <a:off x="621792" y="1024128"/>
            <a:ext cx="10789920" cy="365760"/>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300" u="none" cap="none" strike="noStrike">
                <a:solidFill>
                  <a:srgbClr val="5F6976"/>
                </a:solidFill>
                <a:latin typeface="Arial"/>
                <a:ea typeface="Arial"/>
                <a:cs typeface="Arial"/>
                <a:sym typeface="Arial"/>
              </a:rPr>
              <a:t>The main improvement was a change in data structure, not the merge rule.</a:t>
            </a:r>
            <a:endParaRPr/>
          </a:p>
        </p:txBody>
      </p:sp>
      <p:sp>
        <p:nvSpPr>
          <p:cNvPr id="266" name="Google Shape;266;p9"/>
          <p:cNvSpPr txBox="1"/>
          <p:nvPr/>
        </p:nvSpPr>
        <p:spPr>
          <a:xfrm>
            <a:off x="11201400" y="6473952"/>
            <a:ext cx="411480" cy="182880"/>
          </a:xfrm>
          <a:prstGeom prst="rect">
            <a:avLst/>
          </a:prstGeom>
          <a:noFill/>
          <a:ln>
            <a:noFill/>
          </a:ln>
        </p:spPr>
        <p:txBody>
          <a:bodyPr anchorCtr="0" anchor="t" bIns="54850" lIns="54850" spcFirstLastPara="1" rIns="54850" wrap="square" tIns="54850">
            <a:spAutoFit/>
          </a:bodyPr>
          <a:lstStyle/>
          <a:p>
            <a:pPr indent="0" lvl="0" marL="0" marR="0" rtl="0" algn="r">
              <a:spcBef>
                <a:spcPts val="0"/>
              </a:spcBef>
              <a:spcAft>
                <a:spcPts val="0"/>
              </a:spcAft>
              <a:buNone/>
            </a:pPr>
            <a:r>
              <a:rPr b="0" i="0" lang="en-US" sz="1000" u="none" cap="none" strike="noStrike">
                <a:solidFill>
                  <a:srgbClr val="5F6976"/>
                </a:solidFill>
                <a:latin typeface="Arial"/>
                <a:ea typeface="Arial"/>
                <a:cs typeface="Arial"/>
                <a:sym typeface="Arial"/>
              </a:rPr>
              <a:t>9</a:t>
            </a:r>
            <a:endParaRPr/>
          </a:p>
        </p:txBody>
      </p:sp>
      <p:sp>
        <p:nvSpPr>
          <p:cNvPr id="267" name="Google Shape;267;p9"/>
          <p:cNvSpPr/>
          <p:nvPr/>
        </p:nvSpPr>
        <p:spPr>
          <a:xfrm>
            <a:off x="777240" y="1828800"/>
            <a:ext cx="3429000" cy="2148840"/>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8" name="Google Shape;268;p9"/>
          <p:cNvSpPr txBox="1"/>
          <p:nvPr/>
        </p:nvSpPr>
        <p:spPr>
          <a:xfrm>
            <a:off x="941832" y="1956816"/>
            <a:ext cx="3099816" cy="347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1700" u="none" cap="none" strike="noStrike">
                <a:solidFill>
                  <a:srgbClr val="3767B0"/>
                </a:solidFill>
                <a:latin typeface="Arial"/>
                <a:ea typeface="Arial"/>
                <a:cs typeface="Arial"/>
                <a:sym typeface="Arial"/>
              </a:rPr>
              <a:t>Challenge</a:t>
            </a:r>
            <a:endParaRPr/>
          </a:p>
        </p:txBody>
      </p:sp>
      <p:sp>
        <p:nvSpPr>
          <p:cNvPr id="269" name="Google Shape;269;p9"/>
          <p:cNvSpPr txBox="1"/>
          <p:nvPr/>
        </p:nvSpPr>
        <p:spPr>
          <a:xfrm>
            <a:off x="941832" y="2395728"/>
            <a:ext cx="3099816" cy="1490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500" u="none" cap="none" strike="noStrike">
                <a:solidFill>
                  <a:srgbClr val="28303C"/>
                </a:solidFill>
                <a:latin typeface="Arial"/>
                <a:ea typeface="Arial"/>
                <a:cs typeface="Arial"/>
                <a:sym typeface="Arial"/>
              </a:rPr>
              <a:t>Our first approach did not scale better than the baseline.</a:t>
            </a:r>
            <a:endParaRPr/>
          </a:p>
        </p:txBody>
      </p:sp>
      <p:sp>
        <p:nvSpPr>
          <p:cNvPr id="270" name="Google Shape;270;p9"/>
          <p:cNvSpPr/>
          <p:nvPr/>
        </p:nvSpPr>
        <p:spPr>
          <a:xfrm>
            <a:off x="4389120" y="1828800"/>
            <a:ext cx="3429000" cy="2148840"/>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1" name="Google Shape;271;p9"/>
          <p:cNvSpPr txBox="1"/>
          <p:nvPr/>
        </p:nvSpPr>
        <p:spPr>
          <a:xfrm>
            <a:off x="4553712" y="1956816"/>
            <a:ext cx="3099816" cy="347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1700" u="none" cap="none" strike="noStrike">
                <a:solidFill>
                  <a:srgbClr val="22918C"/>
                </a:solidFill>
                <a:latin typeface="Arial"/>
                <a:ea typeface="Arial"/>
                <a:cs typeface="Arial"/>
                <a:sym typeface="Arial"/>
              </a:rPr>
              <a:t>Design pivot</a:t>
            </a:r>
            <a:endParaRPr/>
          </a:p>
        </p:txBody>
      </p:sp>
      <p:sp>
        <p:nvSpPr>
          <p:cNvPr id="272" name="Google Shape;272;p9"/>
          <p:cNvSpPr txBox="1"/>
          <p:nvPr/>
        </p:nvSpPr>
        <p:spPr>
          <a:xfrm>
            <a:off x="4553712" y="2395728"/>
            <a:ext cx="3099816" cy="1490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500" u="none" cap="none" strike="noStrike">
                <a:solidFill>
                  <a:srgbClr val="28303C"/>
                </a:solidFill>
                <a:latin typeface="Arial"/>
                <a:ea typeface="Arial"/>
                <a:cs typeface="Arial"/>
                <a:sym typeface="Arial"/>
              </a:rPr>
              <a:t>Switching to a min-heap reduced repeated minimum-search work.</a:t>
            </a:r>
            <a:endParaRPr/>
          </a:p>
        </p:txBody>
      </p:sp>
      <p:sp>
        <p:nvSpPr>
          <p:cNvPr id="273" name="Google Shape;273;p9"/>
          <p:cNvSpPr/>
          <p:nvPr/>
        </p:nvSpPr>
        <p:spPr>
          <a:xfrm>
            <a:off x="8001000" y="1828800"/>
            <a:ext cx="3429000" cy="2148840"/>
          </a:xfrm>
          <a:prstGeom prst="roundRect">
            <a:avLst>
              <a:gd fmla="val 16667" name="adj"/>
            </a:avLst>
          </a:prstGeom>
          <a:solidFill>
            <a:srgbClr val="EFF4FA"/>
          </a:solidFill>
          <a:ln cap="flat" cmpd="sng" w="9525">
            <a:solidFill>
              <a:srgbClr val="DBE7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9"/>
          <p:cNvSpPr txBox="1"/>
          <p:nvPr/>
        </p:nvSpPr>
        <p:spPr>
          <a:xfrm>
            <a:off x="8165592" y="1956816"/>
            <a:ext cx="3099816" cy="347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1" i="0" lang="en-US" sz="1700" u="none" cap="none" strike="noStrike">
                <a:solidFill>
                  <a:srgbClr val="E69138"/>
                </a:solidFill>
                <a:latin typeface="Arial"/>
                <a:ea typeface="Arial"/>
                <a:cs typeface="Arial"/>
                <a:sym typeface="Arial"/>
              </a:rPr>
              <a:t>Takeaway</a:t>
            </a:r>
            <a:endParaRPr/>
          </a:p>
        </p:txBody>
      </p:sp>
      <p:sp>
        <p:nvSpPr>
          <p:cNvPr id="275" name="Google Shape;275;p9"/>
          <p:cNvSpPr txBox="1"/>
          <p:nvPr/>
        </p:nvSpPr>
        <p:spPr>
          <a:xfrm>
            <a:off x="8165592" y="2395728"/>
            <a:ext cx="3099816" cy="1490472"/>
          </a:xfrm>
          <a:prstGeom prst="rect">
            <a:avLst/>
          </a:prstGeom>
          <a:noFill/>
          <a:ln>
            <a:noFill/>
          </a:ln>
        </p:spPr>
        <p:txBody>
          <a:bodyPr anchorCtr="0" anchor="t" bIns="54850" lIns="54850" spcFirstLastPara="1" rIns="54850" wrap="square" tIns="54850">
            <a:spAutoFit/>
          </a:bodyPr>
          <a:lstStyle/>
          <a:p>
            <a:pPr indent="0" lvl="0" marL="0" marR="0" rtl="0" algn="l">
              <a:spcBef>
                <a:spcPts val="0"/>
              </a:spcBef>
              <a:spcAft>
                <a:spcPts val="0"/>
              </a:spcAft>
              <a:buNone/>
            </a:pPr>
            <a:r>
              <a:rPr b="0" i="0" lang="en-US" sz="1500" u="none" cap="none" strike="noStrike">
                <a:solidFill>
                  <a:srgbClr val="28303C"/>
                </a:solidFill>
                <a:latin typeface="Arial"/>
                <a:ea typeface="Arial"/>
                <a:cs typeface="Arial"/>
                <a:sym typeface="Arial"/>
              </a:rPr>
              <a:t>Correctness tests, complexity analysis, and benchmarks answer different questions.</a:t>
            </a:r>
            <a:endParaRPr/>
          </a:p>
        </p:txBody>
      </p:sp>
      <p:sp>
        <p:nvSpPr>
          <p:cNvPr id="276" name="Google Shape;276;p9"/>
          <p:cNvSpPr txBox="1"/>
          <p:nvPr/>
        </p:nvSpPr>
        <p:spPr>
          <a:xfrm>
            <a:off x="914400" y="4617720"/>
            <a:ext cx="10241280" cy="548640"/>
          </a:xfrm>
          <a:prstGeom prst="rect">
            <a:avLst/>
          </a:prstGeom>
          <a:noFill/>
          <a:ln>
            <a:noFill/>
          </a:ln>
        </p:spPr>
        <p:txBody>
          <a:bodyPr anchorCtr="0" anchor="t" bIns="54850" lIns="54850" spcFirstLastPara="1" rIns="54850" wrap="square" tIns="54850">
            <a:spAutoFit/>
          </a:bodyPr>
          <a:lstStyle/>
          <a:p>
            <a:pPr indent="0" lvl="0" marL="0" marR="0" rtl="0" algn="ctr">
              <a:spcBef>
                <a:spcPts val="0"/>
              </a:spcBef>
              <a:spcAft>
                <a:spcPts val="0"/>
              </a:spcAft>
              <a:buNone/>
            </a:pPr>
            <a:r>
              <a:rPr b="1" i="0" lang="en-US" sz="2400" u="none" cap="none" strike="noStrike">
                <a:solidFill>
                  <a:srgbClr val="182746"/>
                </a:solidFill>
                <a:latin typeface="Arial"/>
                <a:ea typeface="Arial"/>
                <a:cs typeface="Arial"/>
                <a:sym typeface="Arial"/>
              </a:rPr>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